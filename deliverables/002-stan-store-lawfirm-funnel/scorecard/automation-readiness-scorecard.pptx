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  <a:latin typeface="Playfair Display"/>
              </a:defRPr>
            </a:pPr>
            <a:r>
              <a:t>The Law Firm Automation Readiness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8B8C8"/>
                </a:solidFill>
                <a:latin typeface="Inter"/>
              </a:defRPr>
            </a:pPr>
            <a:r>
              <a:t>A 5-Minute Self-Assessment for Bankruptcy, Criminal &amp; Administrative Law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FFF"/>
                </a:solidFill>
                <a:latin typeface="Inter"/>
              </a:defRPr>
            </a:pPr>
            <a:r>
              <a:t>The Innovative Native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B8B8C8"/>
                </a:solidFill>
                <a:latin typeface="Inter"/>
              </a:defRPr>
            </a:pPr>
            <a:r>
              <a:t>We build systems that survive contact with reality.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  <a:latin typeface="Playfair Display"/>
              </a:defRPr>
            </a:pPr>
            <a:r>
              <a:t>Who This Scorecard Is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FF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Managing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Bankruptcy, Criminal, or Administrative law firms doing $500K-$5M revenue who know operations need upgrading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Solo Practitioners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Attorneys who've grown past the point where manual processes work and need systems that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D4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Growth-Ready Firms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8B8C8"/>
                </a:solidFill>
                <a:latin typeface="Inter"/>
              </a:defRPr>
            </a:pPr>
            <a:r>
              <a:t>Practices that know they're inefficient but don't know where to start fixing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Playfair Display"/>
              </a:defRPr>
            </a:pPr>
            <a:r>
              <a:t>Section 1: Client Intake &amp; Onboarding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First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How do new clients reach you? Phone-only with paper notes = 1. Automated intake triggering conflict checks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7523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7523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4683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4683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Speed to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4683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Initial contact to engagement letter signed. 5-7 days = 1. Same day automated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006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006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Data Collect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5006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Practice-specific info gathering. Phone intake with manual notes = 1. Digital forms auto-populating CMS =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169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169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329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329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After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329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What happens when leads contact you at 11 PM? Lost to competitors = 1. Full 24/7 intake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8492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8492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5652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5652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5652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Conflict checks and retainer collection. Manual review = 1. Automated screening + integrated payment =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Playfair Display"/>
              </a:defRPr>
            </a:pPr>
            <a:r>
              <a:t>Section 2: Document &amp; Case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File 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Physical folders and inconsistent storage = 1. Standardized CMS with version control and search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7523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7523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4683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4683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Doc 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4683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Copy-paste from old files = 1. Template library with auto data population from case records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006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006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Deadlines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5006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Sticky notes and individual calendars = 1. Integrated docketing with automated reminders =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169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169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329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329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Review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329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Print and physical routing = 1. Workflow-based routing with e-signature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8492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8492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5652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5652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5652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15-30 min digging through old files = 1. 30-second case management search =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Section 3: The Hidden Cost of Broken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10312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FFFF"/>
                </a:solidFill>
                <a:latin typeface="Playfair Display"/>
              </a:defRPr>
            </a:pPr>
            <a:r>
              <a:t>$200K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" y="3840480"/>
            <a:ext cx="155448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023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8B8C8"/>
                </a:solidFill>
                <a:latin typeface="Inter"/>
              </a:defRPr>
            </a:pPr>
            <a:r>
              <a:t>Lost annually from unbilled time at $1M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6704" y="210312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00FF"/>
                </a:solidFill>
                <a:latin typeface="Playfair Display"/>
              </a:defRPr>
            </a:pPr>
            <a:r>
              <a:t>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3904" y="3840480"/>
            <a:ext cx="1554480" cy="5486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4023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8B8C8"/>
                </a:solidFill>
                <a:latin typeface="Inter"/>
              </a:defRPr>
            </a:pPr>
            <a:r>
              <a:t>Of billable hours never captured due to manual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9904" y="210312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B800"/>
                </a:solidFill>
                <a:latin typeface="Playfair Display"/>
              </a:defRPr>
            </a:pPr>
            <a:r>
              <a:t>10+ hrs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47104" y="3840480"/>
            <a:ext cx="155448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4023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8B8C8"/>
                </a:solidFill>
                <a:latin typeface="Inter"/>
              </a:defRPr>
            </a:pPr>
            <a:r>
              <a:t>Per week spent chasing payments instead of practicing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210312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D4"/>
                </a:solidFill>
                <a:latin typeface="Playfair Display"/>
              </a:defRPr>
            </a:pPr>
            <a:r>
              <a:t>85%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0304" y="3840480"/>
            <a:ext cx="1554480" cy="54864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3104" y="4023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8B8C8"/>
                </a:solidFill>
                <a:latin typeface="Inter"/>
              </a:defRPr>
            </a:pPr>
            <a:r>
              <a:t>Target 30-day payment rate with automated billing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237744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52744" y="237744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95944" y="237744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B8B8C8"/>
                </a:solidFill>
                <a:latin typeface="Inter"/>
              </a:defRPr>
            </a:pPr>
            <a:r>
              <a:t>Score yourself 1-5: Time capture, invoicing speed, payment rate, IOLTA compliance, hours spent on billing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Playfair Display"/>
              </a:defRPr>
            </a:pPr>
            <a:r>
              <a:t>Section 4: Client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9144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D4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Status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Clients call asking 'where's my case?' = 1. Automated milestone updates + 24/7 portal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7523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7523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4683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4683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Call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4683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20+ status calls per week interrupting billable work = 1. Under 5 calls, clients informed proactively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645920"/>
            <a:ext cx="2036003" cy="9144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006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D4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006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5006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Hoping clients remember court dates = 1. Automated multi-channel reminders at 7, 3, 1 day out =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169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169" y="1645920"/>
            <a:ext cx="203600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329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FF"/>
                </a:solidFill>
                <a:latin typeface="Playfair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329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Self-Service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329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No access, clients must call for everything = 1. Client portal with docs, deadlines, invoices 24/7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8492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8492" y="1645920"/>
            <a:ext cx="2036003" cy="9144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5652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D4"/>
                </a:solidFill>
                <a:latin typeface="Playfair Display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5652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Routine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5652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Every question requires attorney time = 1. Automated responses + escalation only when needed =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5"/>
                </a:solidFill>
                <a:latin typeface="Playfair Display"/>
              </a:defRPr>
            </a:pPr>
            <a:r>
              <a:t>Section 5: Marketing &amp; Client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914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00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Lead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Word of mouth and hope = 1. Multi-channel attribution tracking with per-source ROI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7523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7523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4683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4683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Cost Per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4683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No idea what acquisition costs = 1. Precise per-channel CAC with LTV comparison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645920"/>
            <a:ext cx="2036003" cy="914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006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00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006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5006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Basic website with contact info = 1. Regular content calendar with SEO and lead magnets =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169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169" y="1645920"/>
            <a:ext cx="203600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329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  <a:latin typeface="Playfair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329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Referrals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329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Random, untracked referrals = 1. Automated referral tracking and relationship nurturing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8492" y="1645920"/>
            <a:ext cx="203600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8492" y="1645920"/>
            <a:ext cx="2036003" cy="914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5652" y="187451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800"/>
                </a:solidFill>
                <a:latin typeface="Playfair Display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5652" y="2468880"/>
            <a:ext cx="17616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Playfair Display"/>
              </a:defRPr>
            </a:pPr>
            <a:r>
              <a:t>Lead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5652" y="3474720"/>
            <a:ext cx="17616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Hours or days to respond = 1. Within minutes 24/7, automated acknowledgment and intake =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Playfair Display"/>
              </a:defRPr>
            </a:pPr>
            <a:r>
              <a:t>What Automated Actually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  <a:latin typeface="Playfair Display"/>
              </a:defRPr>
            </a:pPr>
            <a:r>
              <a:t>The Typical Process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Client calls, leaves voicemail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Phone tag for 2-3 days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Manual intake call, notes by hand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41324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Hope you remember conflict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  <a:latin typeface="Playfair Display"/>
              </a:defRPr>
            </a:pPr>
            <a:r>
              <a:t>11:47 PM Tuesday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Client fills intake form at 11:47 PM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40156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By 7 AM: conflict check, case file, e-sign sent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40740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By 9 AM: signed, paid, meeting scheduled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41324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No one touched anything until 9 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00FFFF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i="1">
                <a:solidFill>
                  <a:srgbClr val="F5F5F5"/>
                </a:solidFill>
                <a:latin typeface="Inter"/>
              </a:defRPr>
            </a:pPr>
            <a:r>
              <a:t>Most law firms fail at automation not because they buy the wrong software, but because they don't treat operations like a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FFFF"/>
                </a:solidFill>
                <a:latin typeface="Playfair Display"/>
              </a:defRPr>
            </a:pPr>
            <a:r>
              <a:t>— The Innovative Native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B8C8"/>
                </a:solidFill>
                <a:latin typeface="Inter"/>
              </a:defRPr>
            </a:pPr>
            <a:r>
              <a:t>Your Total Score:  5-12 = Critical Inefficiency  |  13-19 = Foundation in Place  |  20-25 = Operationally Optimized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5F5"/>
                </a:solidFill>
                <a:latin typeface="Playfair Display"/>
              </a:defRPr>
            </a:pPr>
            <a:r>
              <a:t>Your Firm Is Ready. We're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0552" cy="7315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5F5"/>
                </a:solidFill>
                <a:latin typeface="Inter"/>
              </a:defRPr>
            </a:pPr>
            <a:r>
              <a:t>Get the Automated Law Firm Blueprint — $97</a:t>
            </a:r>
          </a:p>
        </p:txBody>
      </p:sp>
      <p:sp>
        <p:nvSpPr>
          <p:cNvPr id="9" name="Oval 8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5F5"/>
                </a:solidFill>
                <a:latin typeface="Inter"/>
              </a:defRPr>
            </a:pPr>
            <a:r>
              <a:t>Book a 30-Minute Diagnostic Call</a:t>
            </a:r>
          </a:p>
        </p:txBody>
      </p:sp>
      <p:sp>
        <p:nvSpPr>
          <p:cNvPr id="12" name="Oval 11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5F5F5"/>
                </a:solidFill>
                <a:latin typeface="Inter"/>
              </a:defRPr>
            </a:pPr>
            <a:r>
              <a:t>hello@theinnovativenative.com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FF"/>
                </a:solidFill>
                <a:latin typeface="Playfair Display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