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0"/>
            <a:ext cx="108173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F5F5"/>
                </a:solidFill>
                <a:latin typeface="Playfair Display"/>
              </a:defRPr>
            </a:pPr>
            <a:r>
              <a:t>The Automated Law Firm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389120"/>
            <a:ext cx="108173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8B8C8"/>
                </a:solidFill>
                <a:latin typeface="Inter"/>
              </a:defRPr>
            </a:pPr>
            <a:r>
              <a:t>A Strategic Architecture for Bankruptcy, Criminal &amp; Administrative Law Firms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5F5F5"/>
                </a:solidFill>
                <a:latin typeface="Playfair Display"/>
              </a:defRPr>
            </a:pPr>
            <a:r>
              <a:t>Know Before You Read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286000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600">
                <a:solidFill>
                  <a:srgbClr val="F5F5F5"/>
                </a:solidFill>
                <a:latin typeface="Inter"/>
              </a:defRPr>
            </a:pPr>
            <a:r>
              <a:t>What This Is: Strategic document showing a fully automated law firm — from intake to marketing</a:t>
            </a:r>
          </a:p>
          <a:p>
            <a:pPr>
              <a:spcBef>
                <a:spcPts val="1000"/>
              </a:spcBef>
              <a:defRPr sz="1600">
                <a:solidFill>
                  <a:srgbClr val="F5F5F5"/>
                </a:solidFill>
                <a:latin typeface="Inter"/>
              </a:defRPr>
            </a:pPr>
            <a:r>
              <a:t>What This Is Not: A course, tutorial, or legal advice. We build systems for law firms</a:t>
            </a:r>
          </a:p>
          <a:p>
            <a:pPr>
              <a:spcBef>
                <a:spcPts val="1000"/>
              </a:spcBef>
              <a:defRPr sz="1600">
                <a:solidFill>
                  <a:srgbClr val="F5F5F5"/>
                </a:solidFill>
                <a:latin typeface="Inter"/>
              </a:defRPr>
            </a:pPr>
            <a:r>
              <a:t>Scope: Practice-area architecture for Bankruptcy, Criminal, and Administrative law</a:t>
            </a:r>
          </a:p>
          <a:p>
            <a:pPr>
              <a:spcBef>
                <a:spcPts val="1000"/>
              </a:spcBef>
              <a:defRPr sz="1600">
                <a:solidFill>
                  <a:srgbClr val="F5F5F5"/>
                </a:solidFill>
                <a:latin typeface="Inter"/>
              </a:defRPr>
            </a:pPr>
            <a:r>
              <a:t>Disclaimer: We build operational and marketing infrastructure — the business side of running a firm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2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00FFFF"/>
                </a:solidFill>
                <a:latin typeface="Playfair Display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5F5F5"/>
                </a:solidFill>
                <a:latin typeface="Playfair Display"/>
              </a:defRPr>
            </a:pPr>
            <a:r>
              <a:t>The $100K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743200" cy="54864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Playfair Display"/>
              </a:defRPr>
            </a:pPr>
            <a:r>
              <a:t>Where Your Revenue Goes Every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FFFF"/>
                </a:solidFill>
                <a:latin typeface="Playfair Display"/>
              </a:defRPr>
            </a:pPr>
            <a:r>
              <a:t>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14884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  <a:latin typeface="Inter"/>
              </a:defRPr>
            </a:pPr>
            <a:r>
              <a:t>Missed Billable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FFFF"/>
                </a:solidFill>
                <a:latin typeface="Playfair Display"/>
              </a:defRPr>
            </a:pPr>
            <a:r>
              <a:t>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06324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  <a:latin typeface="Inter"/>
              </a:defRPr>
            </a:pPr>
            <a:r>
              <a:t>Slow Intake Conversion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00FF"/>
                </a:solidFill>
                <a:latin typeface="Playfair Display"/>
              </a:defRPr>
            </a:pPr>
            <a:r>
              <a:t>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97764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  <a:latin typeface="Inter"/>
              </a:defRPr>
            </a:pPr>
            <a:r>
              <a:t>Manual Document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75488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00FF"/>
                </a:solidFill>
                <a:latin typeface="Playfair Display"/>
              </a:defRPr>
            </a:pPr>
            <a:r>
              <a:t>15%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89204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  <a:latin typeface="Inter"/>
              </a:defRPr>
            </a:pPr>
            <a:r>
              <a:t>Ineffective Marketing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B8B8C8"/>
                </a:solidFill>
                <a:latin typeface="Playfair Display"/>
              </a:defRPr>
            </a:pPr>
            <a:r>
              <a:t>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580644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  <a:latin typeface="Inter"/>
              </a:defRPr>
            </a:pPr>
            <a:r>
              <a:t>Admin Overhead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5F5F5"/>
                </a:solidFill>
                <a:latin typeface="Playfair Display"/>
              </a:defRPr>
            </a:pPr>
            <a:r>
              <a:t>The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8B8C8"/>
                </a:solidFill>
                <a:latin typeface="Playfair Display"/>
              </a:defRPr>
            </a:pPr>
            <a:r>
              <a:t>Before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600">
                <a:solidFill>
                  <a:srgbClr val="B8B8C8"/>
                </a:solidFill>
                <a:latin typeface="Inter"/>
              </a:defRPr>
            </a:pPr>
            <a:r>
              <a:t>Sticky notes, manual follow-ups</a:t>
            </a:r>
          </a:p>
          <a:p>
            <a:pPr>
              <a:spcBef>
                <a:spcPts val="1200"/>
              </a:spcBef>
              <a:defRPr sz="1600">
                <a:solidFill>
                  <a:srgbClr val="B8B8C8"/>
                </a:solidFill>
                <a:latin typeface="Inter"/>
              </a:defRPr>
            </a:pPr>
            <a:r>
              <a:t>Billing from memory at end of week</a:t>
            </a:r>
          </a:p>
          <a:p>
            <a:pPr>
              <a:spcBef>
                <a:spcPts val="1200"/>
              </a:spcBef>
              <a:defRPr sz="1600">
                <a:solidFill>
                  <a:srgbClr val="B8B8C8"/>
                </a:solidFill>
                <a:latin typeface="Inter"/>
              </a:defRPr>
            </a:pPr>
            <a:r>
              <a:t>3 hours drafting repetitive motions</a:t>
            </a:r>
          </a:p>
          <a:p>
            <a:pPr>
              <a:spcBef>
                <a:spcPts val="1200"/>
              </a:spcBef>
              <a:defRPr sz="1600">
                <a:solidFill>
                  <a:srgbClr val="B8B8C8"/>
                </a:solidFill>
                <a:latin typeface="Inter"/>
              </a:defRPr>
            </a:pPr>
            <a:r>
              <a:t>Clients calling: 'Where's my case?'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FF"/>
                </a:solidFill>
                <a:latin typeface="Playfair Display"/>
              </a:defRPr>
            </a:pPr>
            <a:r>
              <a:t>After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600">
                <a:solidFill>
                  <a:srgbClr val="F5F5F5"/>
                </a:solidFill>
                <a:latin typeface="Inter"/>
              </a:defRPr>
            </a:pPr>
            <a:r>
              <a:t>Instant conflict check, auto-response</a:t>
            </a:r>
          </a:p>
          <a:p>
            <a:pPr>
              <a:spcBef>
                <a:spcPts val="1200"/>
              </a:spcBef>
              <a:defRPr sz="1600">
                <a:solidFill>
                  <a:srgbClr val="F5F5F5"/>
                </a:solidFill>
                <a:latin typeface="Inter"/>
              </a:defRPr>
            </a:pPr>
            <a:r>
              <a:t>Activity-based capture: 95% recovery</a:t>
            </a:r>
          </a:p>
          <a:p>
            <a:pPr>
              <a:spcBef>
                <a:spcPts val="1200"/>
              </a:spcBef>
              <a:defRPr sz="1600">
                <a:solidFill>
                  <a:srgbClr val="F5F5F5"/>
                </a:solidFill>
                <a:latin typeface="Inter"/>
              </a:defRPr>
            </a:pPr>
            <a:r>
              <a:t>45 minutes review, templates handle rest</a:t>
            </a:r>
          </a:p>
          <a:p>
            <a:pPr>
              <a:spcBef>
                <a:spcPts val="1200"/>
              </a:spcBef>
              <a:defRPr sz="1600">
                <a:solidFill>
                  <a:srgbClr val="F5F5F5"/>
                </a:solidFill>
                <a:latin typeface="Inter"/>
              </a:defRPr>
            </a:pPr>
            <a:r>
              <a:t>Automated status updates at milestones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FFFF"/>
                </a:solidFill>
                <a:latin typeface="Playfair Display"/>
              </a:defRPr>
            </a:pPr>
            <a: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474720"/>
            <a:ext cx="2743200" cy="54864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5F5F5"/>
                </a:solidFill>
                <a:latin typeface="Playfair Display"/>
              </a:defRPr>
            </a:pPr>
            <a:r>
              <a:t>The Automated Intake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8B8C8"/>
                </a:solidFill>
                <a:latin typeface="Inter"/>
              </a:defRPr>
            </a:pPr>
            <a:r>
              <a:t>From sticky notes to sub-5-minute response times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Playfair Display"/>
              </a:defRPr>
            </a:pPr>
            <a:r>
              <a:t>Three Ways Intake Kills Your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657600" cy="3840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FFF"/>
                </a:solidFill>
                <a:latin typeface="Playfair Display"/>
              </a:defRPr>
            </a:pPr>
            <a:r>
              <a:t>Speed-to-Lead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B8B8C8"/>
                </a:solidFill>
                <a:latin typeface="Inter"/>
              </a:defRPr>
            </a:pPr>
            <a:r>
              <a:t>Firms that respond within 5 minutes are 21x more likely to convert. Most firms respond in hours or days.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2011680"/>
            <a:ext cx="3657600" cy="3840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46888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FFF"/>
                </a:solidFill>
                <a:latin typeface="Playfair Display"/>
              </a:defRPr>
            </a:pPr>
            <a:r>
              <a:t>Conflict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918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B8B8C8"/>
                </a:solidFill>
                <a:latin typeface="Inter"/>
              </a:defRPr>
            </a:pPr>
            <a:r>
              <a:t>Manual conflict checks take 15-30 minutes. Automated checks take seconds and never miss a match.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645920"/>
            <a:ext cx="3657600" cy="3840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103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FFF"/>
                </a:solidFill>
                <a:latin typeface="Playfair Display"/>
              </a:defRPr>
            </a:pPr>
            <a:r>
              <a:t>Scheduling Friction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B8B8C8"/>
                </a:solidFill>
                <a:latin typeface="Inter"/>
              </a:defRPr>
            </a:pPr>
            <a:r>
              <a:t>Every email exchange to schedule a consultation is a chance for the client to call someone else.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Playfair Display"/>
              </a:defRPr>
            </a:pPr>
            <a:r>
              <a:t>The Intake Engine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560320" cy="3200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FFF"/>
                </a:solidFill>
                <a:latin typeface="Playfair Display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5F5"/>
                </a:solidFill>
                <a:latin typeface="Playfair Display"/>
              </a:defRPr>
            </a:pPr>
            <a:r>
              <a:t>Web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Practice-area specific,</a:t>
            </a:r>
            <a:br/>
            <a:r>
              <a:t>mobile-responsive, 24/7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301752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FFFF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28800"/>
            <a:ext cx="2560320" cy="3200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031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FFF"/>
                </a:solidFill>
                <a:latin typeface="Playfair Display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7432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5F5"/>
                </a:solidFill>
                <a:latin typeface="Playfair Display"/>
              </a:defRPr>
            </a:pPr>
            <a:r>
              <a:t>Conflict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2918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Instant search against</a:t>
            </a:r>
            <a:br/>
            <a:r>
              <a:t>entire client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01752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FFFF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828800"/>
            <a:ext cx="2560320" cy="3200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1031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FFF"/>
                </a:solidFill>
                <a:latin typeface="Playfair Display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432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5F5"/>
                </a:solidFill>
                <a:latin typeface="Playfair Display"/>
              </a:defRPr>
            </a:pPr>
            <a:r>
              <a:t>E-Sign + Payment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2918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Auto-generated engagement</a:t>
            </a:r>
            <a:br/>
            <a:r>
              <a:t>letter + online retainer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01752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FFFF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828800"/>
            <a:ext cx="2560320" cy="3200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1031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FFF"/>
                </a:solidFill>
                <a:latin typeface="Playfair Display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7432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5F5"/>
                </a:solidFill>
                <a:latin typeface="Playfair Display"/>
              </a:defRPr>
            </a:pPr>
            <a:r>
              <a:t>Case File Creation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2918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All intake data</a:t>
            </a:r>
            <a:br/>
            <a:r>
              <a:t>pre-populated automatically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Playfair Display"/>
              </a:defRPr>
            </a:pPr>
            <a:r>
              <a:t>Intake by Practice Area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FFF"/>
                </a:solidFill>
                <a:latin typeface="Playfair Display"/>
              </a:defRPr>
            </a:pPr>
            <a:r>
              <a:t>Bankruptcy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600">
                <a:solidFill>
                  <a:srgbClr val="B8B8C8"/>
                </a:solidFill>
                <a:latin typeface="Inter"/>
              </a:defRPr>
            </a:pPr>
            <a:r>
              <a:t>→ Means test pre-screening</a:t>
            </a:r>
          </a:p>
          <a:p>
            <a:pPr>
              <a:spcBef>
                <a:spcPts val="1200"/>
              </a:spcBef>
              <a:defRPr sz="1600">
                <a:solidFill>
                  <a:srgbClr val="B8B8C8"/>
                </a:solidFill>
                <a:latin typeface="Inter"/>
              </a:defRPr>
            </a:pPr>
            <a:r>
              <a:t>→ Creditor list upload</a:t>
            </a:r>
          </a:p>
          <a:p>
            <a:pPr>
              <a:spcBef>
                <a:spcPts val="1200"/>
              </a:spcBef>
              <a:defRPr sz="1600">
                <a:solidFill>
                  <a:srgbClr val="B8B8C8"/>
                </a:solidFill>
                <a:latin typeface="Inter"/>
              </a:defRPr>
            </a:pPr>
            <a:r>
              <a:t>→ District-specific forms</a:t>
            </a:r>
          </a:p>
          <a:p>
            <a:pPr>
              <a:spcBef>
                <a:spcPts val="1200"/>
              </a:spcBef>
              <a:defRPr sz="1600">
                <a:solidFill>
                  <a:srgbClr val="B8B8C8"/>
                </a:solidFill>
                <a:latin typeface="Inter"/>
              </a:defRPr>
            </a:pPr>
            <a:r>
              <a:t>→ Petition data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46304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00FF"/>
                </a:solidFill>
                <a:latin typeface="Playfair Display"/>
              </a:defRPr>
            </a:pPr>
            <a:r>
              <a:t>Criminal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2860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600">
                <a:solidFill>
                  <a:srgbClr val="B8B8C8"/>
                </a:solidFill>
                <a:latin typeface="Inter"/>
              </a:defRPr>
            </a:pPr>
            <a:r>
              <a:t>→ Charge assessment</a:t>
            </a:r>
          </a:p>
          <a:p>
            <a:pPr>
              <a:spcBef>
                <a:spcPts val="1200"/>
              </a:spcBef>
              <a:defRPr sz="1600">
                <a:solidFill>
                  <a:srgbClr val="B8B8C8"/>
                </a:solidFill>
                <a:latin typeface="Inter"/>
              </a:defRPr>
            </a:pPr>
            <a:r>
              <a:t>→ Jurisdiction routing</a:t>
            </a:r>
          </a:p>
          <a:p>
            <a:pPr>
              <a:spcBef>
                <a:spcPts val="1200"/>
              </a:spcBef>
              <a:defRPr sz="1600">
                <a:solidFill>
                  <a:srgbClr val="B8B8C8"/>
                </a:solidFill>
                <a:latin typeface="Inter"/>
              </a:defRPr>
            </a:pPr>
            <a:r>
              <a:t>→ Bail/bond status</a:t>
            </a:r>
          </a:p>
          <a:p>
            <a:pPr>
              <a:spcBef>
                <a:spcPts val="1200"/>
              </a:spcBef>
              <a:defRPr sz="1600">
                <a:solidFill>
                  <a:srgbClr val="B8B8C8"/>
                </a:solidFill>
                <a:latin typeface="Inter"/>
              </a:defRPr>
            </a:pPr>
            <a:r>
              <a:t>→ Co-defendant conflict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46304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D4"/>
                </a:solidFill>
                <a:latin typeface="Playfair Display"/>
              </a:defRPr>
            </a:pPr>
            <a:r>
              <a:t>Administrative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2860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600">
                <a:solidFill>
                  <a:srgbClr val="B8B8C8"/>
                </a:solidFill>
                <a:latin typeface="Inter"/>
              </a:defRPr>
            </a:pPr>
            <a:r>
              <a:t>→ Agency identification</a:t>
            </a:r>
          </a:p>
          <a:p>
            <a:pPr>
              <a:spcBef>
                <a:spcPts val="1200"/>
              </a:spcBef>
              <a:defRPr sz="1600">
                <a:solidFill>
                  <a:srgbClr val="B8B8C8"/>
                </a:solidFill>
                <a:latin typeface="Inter"/>
              </a:defRPr>
            </a:pPr>
            <a:r>
              <a:t>→ Deadline calculator</a:t>
            </a:r>
          </a:p>
          <a:p>
            <a:pPr>
              <a:spcBef>
                <a:spcPts val="1200"/>
              </a:spcBef>
              <a:defRPr sz="1600">
                <a:solidFill>
                  <a:srgbClr val="B8B8C8"/>
                </a:solidFill>
                <a:latin typeface="Inter"/>
              </a:defRPr>
            </a:pPr>
            <a:r>
              <a:t>→ Standing verification</a:t>
            </a:r>
          </a:p>
          <a:p>
            <a:pPr>
              <a:spcBef>
                <a:spcPts val="1200"/>
              </a:spcBef>
              <a:defRPr sz="1600">
                <a:solidFill>
                  <a:srgbClr val="B8B8C8"/>
                </a:solidFill>
                <a:latin typeface="Inter"/>
              </a:defRPr>
            </a:pPr>
            <a:r>
              <a:t>→ Document request checklist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FFFF"/>
                </a:solidFill>
                <a:latin typeface="Playfair Display"/>
              </a:defRPr>
            </a:pPr>
            <a: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474720"/>
            <a:ext cx="2743200" cy="54864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5F5F5"/>
                </a:solidFill>
                <a:latin typeface="Playfair Display"/>
              </a:defRPr>
            </a:pPr>
            <a:r>
              <a:t>Document Assembly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8B8C8"/>
                </a:solidFill>
                <a:latin typeface="Inter"/>
              </a:defRPr>
            </a:pPr>
            <a:r>
              <a:t>80% of your documents are templates waiting to happen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Playfair Display"/>
              </a:defRPr>
            </a:pPr>
            <a:r>
              <a:t>Document Assembly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560320" cy="3657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FFFF"/>
                </a:solidFill>
                <a:latin typeface="Playfair Display"/>
              </a:defRPr>
            </a:pPr>
            <a:r>
              <a:t>Template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Standardized templates for</a:t>
            </a:r>
            <a:br/>
            <a:r>
              <a:t>every document type in</a:t>
            </a:r>
            <a:br/>
            <a:r>
              <a:t>your practice area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828800"/>
            <a:ext cx="2560320" cy="3657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22860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FFFF"/>
                </a:solidFill>
                <a:latin typeface="Playfair Display"/>
              </a:defRPr>
            </a:pPr>
            <a:r>
              <a:t>Merge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0175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Client data auto-populates</a:t>
            </a:r>
            <a:br/>
            <a:r>
              <a:t>names, dates, case numbers,</a:t>
            </a:r>
            <a:br/>
            <a:r>
              <a:t>jurisdiction details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2560320" cy="3657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FFFF"/>
                </a:solidFill>
                <a:latin typeface="Playfair Display"/>
              </a:defRPr>
            </a:pPr>
            <a:r>
              <a:t>Assembly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0175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Conditional logic selects</a:t>
            </a:r>
            <a:br/>
            <a:r>
              <a:t>correct clauses based on</a:t>
            </a:r>
            <a:br/>
            <a:r>
              <a:t>case type and jurisdiction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828800"/>
            <a:ext cx="2560320" cy="3657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22860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FFFF"/>
                </a:solidFill>
                <a:latin typeface="Playfair Display"/>
              </a:defRPr>
            </a:pPr>
            <a:r>
              <a:t>Quality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30175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Automated review catches</a:t>
            </a:r>
            <a:br/>
            <a:r>
              <a:t>missing fields, formatting</a:t>
            </a:r>
            <a:br/>
            <a:r>
              <a:t>errors, citation issues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Playfair Display"/>
              </a:defRPr>
            </a:pPr>
            <a:r>
              <a:t>Document Assembly Saves Hours Every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FF"/>
                </a:solidFill>
                <a:latin typeface="Playfair Display"/>
              </a:defRPr>
            </a:pPr>
            <a:r>
              <a:t>7 hrs/wk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828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5F5"/>
                </a:solidFill>
                <a:latin typeface="Playfair Display"/>
              </a:defRPr>
            </a:pPr>
            <a:r>
              <a:t>Bankruptcy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2860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Petitions, schedules, means test forms — 80% template-driven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FF"/>
                </a:solidFill>
                <a:latin typeface="Playfair Display"/>
              </a:defRPr>
            </a:pPr>
            <a:r>
              <a:t>5 hrs/wk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3832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5F5"/>
                </a:solidFill>
                <a:latin typeface="Playfair Display"/>
              </a:defRPr>
            </a:pPr>
            <a:r>
              <a:t>Criminal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840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Motions to suppress, discovery requests, plea agreements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FF"/>
                </a:solidFill>
                <a:latin typeface="Playfair Display"/>
              </a:defRPr>
            </a:pPr>
            <a:r>
              <a:t>6 hrs/wk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937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5F5"/>
                </a:solidFill>
                <a:latin typeface="Playfair Display"/>
              </a:defRPr>
            </a:pPr>
            <a:r>
              <a:t>Administrative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3949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Agency responses, FOIA requests, regulatory filings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FFFF"/>
                </a:solidFill>
                <a:latin typeface="Playfair Display"/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474720"/>
            <a:ext cx="2743200" cy="54864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5F5F5"/>
                </a:solidFill>
                <a:latin typeface="Playfair Display"/>
              </a:defRPr>
            </a:pPr>
            <a:r>
              <a:t>Deadline &amp; Compliance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8B8C8"/>
                </a:solidFill>
                <a:latin typeface="Inter"/>
              </a:defRPr>
            </a:pPr>
            <a:r>
              <a:t>Missing a deadline doesn't just lose a case — it can end a career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Playfair Display"/>
              </a:defRPr>
            </a:pPr>
            <a:r>
              <a:t>Critical Compliance by Practice Area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657600" cy="3840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FFF"/>
                </a:solidFill>
                <a:latin typeface="Playfair Display"/>
              </a:defRPr>
            </a:pPr>
            <a:r>
              <a:t>Bankruptcy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B8B8C8"/>
                </a:solidFill>
                <a:latin typeface="Inter"/>
              </a:defRPr>
            </a:pPr>
            <a:r>
              <a:t>Filing deadlines, credit counseling certificates, means test updates, trustee meeting schedules, plan payment monitoring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2011680"/>
            <a:ext cx="3657600" cy="3840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46888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00FF"/>
                </a:solidFill>
                <a:latin typeface="Playfair Display"/>
              </a:defRPr>
            </a:pPr>
            <a:r>
              <a:t>Criminal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918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B8B8C8"/>
                </a:solidFill>
                <a:latin typeface="Inter"/>
              </a:defRPr>
            </a:pPr>
            <a:r>
              <a:t>Speedy trial clocks, motion filing windows, discovery deadlines, plea agreement timelines, sentencing guidelines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645920"/>
            <a:ext cx="3657600" cy="3840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103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D4"/>
                </a:solidFill>
                <a:latin typeface="Playfair Display"/>
              </a:defRPr>
            </a:pPr>
            <a:r>
              <a:t>Administrative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B8B8C8"/>
                </a:solidFill>
                <a:latin typeface="Inter"/>
              </a:defRPr>
            </a:pPr>
            <a:r>
              <a:t>Comment period deadlines, appeal windows, hearing dates, agency response requirements, FOIA timelines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FFFF"/>
                </a:solidFill>
                <a:latin typeface="Playfair Display"/>
              </a:defRPr>
            </a:pPr>
            <a: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474720"/>
            <a:ext cx="2743200" cy="54864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5F5F5"/>
                </a:solidFill>
                <a:latin typeface="Playfair Display"/>
              </a:defRPr>
            </a:pPr>
            <a:r>
              <a:t>Client Communication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8B8C8"/>
                </a:solidFill>
                <a:latin typeface="Inter"/>
              </a:defRPr>
            </a:pPr>
            <a:r>
              <a:t>The #1 bar complaint is lack of communication — not bad lawyering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Playfair Display"/>
              </a:defRPr>
            </a:pPr>
            <a:r>
              <a:t>Automated Communication Touchpoints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560320" cy="3657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FFFF"/>
                </a:solidFill>
                <a:latin typeface="Playfair Display"/>
              </a:defRPr>
            </a:pPr>
            <a:r>
              <a:t>Status Updates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Automatic notifications at</a:t>
            </a:r>
            <a:br/>
            <a:r>
              <a:t>every case milestone —</a:t>
            </a:r>
            <a:br/>
            <a:r>
              <a:t>filing, hearing, ruling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828800"/>
            <a:ext cx="2560320" cy="3657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22860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FFFF"/>
                </a:solidFill>
                <a:latin typeface="Playfair Display"/>
              </a:defRPr>
            </a:pPr>
            <a:r>
              <a:t>Appointment Reminders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0175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48-hour and 2-hour</a:t>
            </a:r>
            <a:br/>
            <a:r>
              <a:t>reminders with prep</a:t>
            </a:r>
            <a:br/>
            <a:r>
              <a:t>instructions attached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2560320" cy="3657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FFFF"/>
                </a:solidFill>
                <a:latin typeface="Playfair Display"/>
              </a:defRPr>
            </a:pPr>
            <a:r>
              <a:t>Document Requests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0175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Automated follow-ups</a:t>
            </a:r>
            <a:br/>
            <a:r>
              <a:t>for missing documents</a:t>
            </a:r>
            <a:br/>
            <a:r>
              <a:t>with secure upload links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828800"/>
            <a:ext cx="2560320" cy="3657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22860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FFFF"/>
                </a:solidFill>
                <a:latin typeface="Playfair Display"/>
              </a:defRPr>
            </a:pPr>
            <a:r>
              <a:t>Check-Ins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30175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Periodic case updates</a:t>
            </a:r>
            <a:br/>
            <a:r>
              <a:t>even when nothing changes —</a:t>
            </a:r>
            <a:br/>
            <a:r>
              <a:t>silence breeds anxiety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0">
                <a:solidFill>
                  <a:srgbClr val="00FFFF"/>
                </a:solidFill>
                <a:latin typeface="Playfair Display"/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i="1">
                <a:solidFill>
                  <a:srgbClr val="F5F5F5"/>
                </a:solidFill>
                <a:latin typeface="Playfair Display"/>
              </a:defRPr>
            </a:pPr>
            <a:r>
              <a:t>The number one driver of bar complaints is not incompetence. It is lack of communication. Clients do not complain because their lawyer lost. They complain because their lawyer disappeared.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FF"/>
                </a:solidFill>
                <a:latin typeface="Inter"/>
              </a:defRPr>
            </a:pPr>
            <a:r>
              <a:t>— ABA Research on Client Satisfaction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FFFF"/>
                </a:solidFill>
                <a:latin typeface="Playfair Display"/>
              </a:defRPr>
            </a:pPr>
            <a: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474720"/>
            <a:ext cx="2743200" cy="54864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5F5F5"/>
                </a:solidFill>
                <a:latin typeface="Playfair Display"/>
              </a:defRPr>
            </a:pPr>
            <a:r>
              <a:t>The Billing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8B8C8"/>
                </a:solidFill>
                <a:latin typeface="Inter"/>
              </a:defRPr>
            </a:pPr>
            <a:r>
              <a:t>Stop billing from memory — capture every minute automatically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Playfair Display"/>
              </a:defRPr>
            </a:pPr>
            <a:r>
              <a:t>The Billing Recovery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00FFFF"/>
                </a:solidFill>
                <a:latin typeface="Playfair Display"/>
              </a:defRPr>
            </a:pPr>
            <a:r>
              <a:t>$109K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920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5F5F5"/>
                </a:solidFill>
                <a:latin typeface="Inter"/>
              </a:defRPr>
            </a:pPr>
            <a:r>
              <a:t>Lost annually to untracked billable time at $350/hr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00FF"/>
                </a:solidFill>
                <a:latin typeface="Playfair Display"/>
              </a:defRPr>
            </a:pPr>
            <a:r>
              <a:t>15-30%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3383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5F5F5"/>
                </a:solidFill>
                <a:latin typeface="Inter"/>
              </a:defRPr>
            </a:pPr>
            <a:r>
              <a:t>Of billable hours lost when billing from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00FFFF"/>
                </a:solidFill>
                <a:latin typeface="Playfair Display"/>
              </a:defRPr>
            </a:pPr>
            <a:r>
              <a:t>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846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5F5F5"/>
                </a:solidFill>
                <a:latin typeface="Inter"/>
              </a:defRPr>
            </a:pPr>
            <a:r>
              <a:t>Time capture rate with activity-based automation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Playfair Display"/>
              </a:defRPr>
            </a:pPr>
            <a:r>
              <a:t>Billing: Before and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8B8C8"/>
                </a:solidFill>
                <a:latin typeface="Playfair Display"/>
              </a:defRPr>
            </a:pPr>
            <a:r>
              <a:t>Manual Billing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600">
                <a:solidFill>
                  <a:srgbClr val="B8B8C8"/>
                </a:solidFill>
                <a:latin typeface="Inter"/>
              </a:defRPr>
            </a:pPr>
            <a:r>
              <a:t>Bill from memory end-of-week</a:t>
            </a:r>
          </a:p>
          <a:p>
            <a:pPr>
              <a:spcBef>
                <a:spcPts val="1200"/>
              </a:spcBef>
              <a:defRPr sz="1600">
                <a:solidFill>
                  <a:srgbClr val="B8B8C8"/>
                </a:solidFill>
                <a:latin typeface="Inter"/>
              </a:defRPr>
            </a:pPr>
            <a:r>
              <a:t>Lose 15-30% of billable hours</a:t>
            </a:r>
          </a:p>
          <a:p>
            <a:pPr>
              <a:spcBef>
                <a:spcPts val="1200"/>
              </a:spcBef>
              <a:defRPr sz="1600">
                <a:solidFill>
                  <a:srgbClr val="B8B8C8"/>
                </a:solidFill>
                <a:latin typeface="Inter"/>
              </a:defRPr>
            </a:pPr>
            <a:r>
              <a:t>Invoice generation takes hours</a:t>
            </a:r>
          </a:p>
          <a:p>
            <a:pPr>
              <a:spcBef>
                <a:spcPts val="1200"/>
              </a:spcBef>
              <a:defRPr sz="1600">
                <a:solidFill>
                  <a:srgbClr val="B8B8C8"/>
                </a:solidFill>
                <a:latin typeface="Inter"/>
              </a:defRPr>
            </a:pPr>
            <a:r>
              <a:t>Collections require manual follow-up</a:t>
            </a:r>
          </a:p>
          <a:p>
            <a:pPr>
              <a:spcBef>
                <a:spcPts val="1200"/>
              </a:spcBef>
              <a:defRPr sz="1600">
                <a:solidFill>
                  <a:srgbClr val="B8B8C8"/>
                </a:solidFill>
                <a:latin typeface="Inter"/>
              </a:defRPr>
            </a:pPr>
            <a:r>
              <a:t>No visibility into realization 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FF"/>
                </a:solidFill>
                <a:latin typeface="Playfair Display"/>
              </a:defRPr>
            </a:pPr>
            <a:r>
              <a:t>Automated Billing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600">
                <a:solidFill>
                  <a:srgbClr val="F5F5F5"/>
                </a:solidFill>
                <a:latin typeface="Inter"/>
              </a:defRPr>
            </a:pPr>
            <a:r>
              <a:t>Activity-based time capture</a:t>
            </a:r>
          </a:p>
          <a:p>
            <a:pPr>
              <a:spcBef>
                <a:spcPts val="1200"/>
              </a:spcBef>
              <a:defRPr sz="1600">
                <a:solidFill>
                  <a:srgbClr val="F5F5F5"/>
                </a:solidFill>
                <a:latin typeface="Inter"/>
              </a:defRPr>
            </a:pPr>
            <a:r>
              <a:t>95% billable hour recovery</a:t>
            </a:r>
          </a:p>
          <a:p>
            <a:pPr>
              <a:spcBef>
                <a:spcPts val="1200"/>
              </a:spcBef>
              <a:defRPr sz="1600">
                <a:solidFill>
                  <a:srgbClr val="F5F5F5"/>
                </a:solidFill>
                <a:latin typeface="Inter"/>
              </a:defRPr>
            </a:pPr>
            <a:r>
              <a:t>One-click invoice generation</a:t>
            </a:r>
          </a:p>
          <a:p>
            <a:pPr>
              <a:spcBef>
                <a:spcPts val="1200"/>
              </a:spcBef>
              <a:defRPr sz="1600">
                <a:solidFill>
                  <a:srgbClr val="F5F5F5"/>
                </a:solidFill>
                <a:latin typeface="Inter"/>
              </a:defRPr>
            </a:pPr>
            <a:r>
              <a:t>Automated payment reminders</a:t>
            </a:r>
          </a:p>
          <a:p>
            <a:pPr>
              <a:spcBef>
                <a:spcPts val="1200"/>
              </a:spcBef>
              <a:defRPr sz="1600">
                <a:solidFill>
                  <a:srgbClr val="F5F5F5"/>
                </a:solidFill>
                <a:latin typeface="Inter"/>
              </a:defRPr>
            </a:pPr>
            <a:r>
              <a:t>Real-time realization dashboards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FFFF"/>
                </a:solidFill>
                <a:latin typeface="Playfair Display"/>
              </a:defRPr>
            </a:pPr>
            <a: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474720"/>
            <a:ext cx="2743200" cy="54864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5F5F5"/>
                </a:solidFill>
                <a:latin typeface="Playfair Display"/>
              </a:defRPr>
            </a:pPr>
            <a:r>
              <a:t>Faceless Marketing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8B8C8"/>
                </a:solidFill>
                <a:latin typeface="Inter"/>
              </a:defRPr>
            </a:pPr>
            <a:r>
              <a:t>Content that generates leads while you practice law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Playfair Display"/>
              </a:defRPr>
            </a:pPr>
            <a:r>
              <a:t>The Marketing System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657600" cy="3840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FFFF"/>
                </a:solidFill>
                <a:latin typeface="Playfair Display"/>
              </a:defRPr>
            </a:pPr>
            <a:r>
              <a:t>SEO Content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B8B8C8"/>
                </a:solidFill>
                <a:latin typeface="Inter"/>
              </a:defRPr>
            </a:pPr>
            <a:r>
              <a:t>Practice-area specific articles targeting high-intent search terms in your geography. Automated research, outline, and draft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2011680"/>
            <a:ext cx="3657600" cy="3840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46888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00FF"/>
                </a:solidFill>
                <a:latin typeface="Playfair Display"/>
              </a:defRPr>
            </a:pPr>
            <a:r>
              <a:t>Social Media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918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B8B8C8"/>
                </a:solidFill>
                <a:latin typeface="Inter"/>
              </a:defRPr>
            </a:pPr>
            <a:r>
              <a:t>Faceless video content from your blog posts. LinkedIn thought leadership. YouTube shorts. Zero on-camera time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645920"/>
            <a:ext cx="3657600" cy="3840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103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D4"/>
                </a:solidFill>
                <a:latin typeface="Playfair Display"/>
              </a:defRPr>
            </a:pPr>
            <a:r>
              <a:t>Review &amp; Reputation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B8B8C8"/>
                </a:solidFill>
                <a:latin typeface="Inter"/>
              </a:defRPr>
            </a:pPr>
            <a:r>
              <a:t>Automated review requests post-case-close. Google Business Profile optimization. Reputation monitoring and response.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Playfair Display"/>
              </a:defRPr>
            </a:pPr>
            <a:r>
              <a:t>The Content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560320" cy="3200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FFF"/>
                </a:solidFill>
                <a:latin typeface="Playfair Display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5F5"/>
                </a:solidFill>
                <a:latin typeface="Playfair Display"/>
              </a:defRPr>
            </a:pPr>
            <a:r>
              <a:t>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Keyword + competitor</a:t>
            </a:r>
            <a:br/>
            <a:r>
              <a:t>analysis for your</a:t>
            </a:r>
            <a:br/>
            <a:r>
              <a:t>practice area + 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301752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FFFF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28800"/>
            <a:ext cx="2560320" cy="3200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031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FFF"/>
                </a:solidFill>
                <a:latin typeface="Playfair Display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7432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5F5"/>
                </a:solidFill>
                <a:latin typeface="Playfair Display"/>
              </a:defRPr>
            </a:pPr>
            <a:r>
              <a:t>Draft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2918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AI-assisted long-form</a:t>
            </a:r>
            <a:br/>
            <a:r>
              <a:t>content with attorney</a:t>
            </a:r>
            <a:br/>
            <a:r>
              <a:t>review and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01752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FFFF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828800"/>
            <a:ext cx="2560320" cy="3200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1031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FFF"/>
                </a:solidFill>
                <a:latin typeface="Playfair Display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432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5F5"/>
                </a:solidFill>
                <a:latin typeface="Playfair Display"/>
              </a:defRPr>
            </a:pPr>
            <a:r>
              <a:t>Publish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2918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Blog, YouTube, LinkedIn</a:t>
            </a:r>
            <a:br/>
            <a:r>
              <a:t>automated from single</a:t>
            </a:r>
            <a:br/>
            <a:r>
              <a:t>source article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01752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FFFF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828800"/>
            <a:ext cx="2560320" cy="3200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1031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FFF"/>
                </a:solidFill>
                <a:latin typeface="Playfair Display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7432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5F5"/>
                </a:solidFill>
                <a:latin typeface="Playfair Display"/>
              </a:defRPr>
            </a:pPr>
            <a:r>
              <a:t>Convert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2918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Every piece links to</a:t>
            </a:r>
            <a:br/>
            <a:r>
              <a:t>intake form — content</a:t>
            </a:r>
            <a:br/>
            <a:r>
              <a:t>is the top of funnel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FFFF"/>
                </a:solidFill>
                <a:latin typeface="Playfair Display"/>
              </a:defRPr>
            </a:pPr>
            <a:r>
              <a:t>08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474720"/>
            <a:ext cx="2743200" cy="54864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5F5F5"/>
                </a:solidFill>
                <a:latin typeface="Playfair Display"/>
              </a:defRPr>
            </a:pPr>
            <a:r>
              <a:t>Integration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8B8C8"/>
                </a:solidFill>
                <a:latin typeface="Inter"/>
              </a:defRPr>
            </a:pPr>
            <a:r>
              <a:t>How every system connects into one operating layer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0" y="0"/>
            <a:ext cx="5486400" cy="6858000"/>
          </a:xfrm>
          <a:prstGeom prst="parallelogram">
            <a:avLst/>
          </a:prstGeom>
          <a:solidFill>
            <a:srgbClr val="12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Playfair Display"/>
              </a:defRPr>
            </a:pPr>
            <a:r>
              <a:t>The Full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731520"/>
            <a:ext cx="5486400" cy="10058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822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  <a:latin typeface="Playfair Display"/>
              </a:defRPr>
            </a:pPr>
            <a:r>
              <a:t>Client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8B8C8"/>
                </a:solidFill>
                <a:latin typeface="Inter"/>
              </a:defRPr>
            </a:pPr>
            <a:r>
              <a:t>Web forms, portals, e-sign, payment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920240"/>
            <a:ext cx="5486400" cy="10058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00FF"/>
                </a:solidFill>
                <a:latin typeface="Playfair Display"/>
              </a:defRPr>
            </a:pPr>
            <a:r>
              <a:t>Automation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3774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8B8C8"/>
                </a:solidFill>
                <a:latin typeface="Inter"/>
              </a:defRPr>
            </a:pPr>
            <a:r>
              <a:t>n8n workflows, Zapier, webhooks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3108960"/>
            <a:ext cx="5486400" cy="10058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32004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  <a:latin typeface="Playfair Display"/>
              </a:defRPr>
            </a:pPr>
            <a:r>
              <a:t>Data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566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8B8C8"/>
                </a:solidFill>
                <a:latin typeface="Inter"/>
              </a:defRPr>
            </a:pPr>
            <a:r>
              <a:t>Airtable, CRM, case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4297680"/>
            <a:ext cx="5486400" cy="10058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3891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00FF"/>
                </a:solidFill>
                <a:latin typeface="Playfair Display"/>
              </a:defRPr>
            </a:pPr>
            <a:r>
              <a:t>Intelligence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754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8B8C8"/>
                </a:solidFill>
                <a:latin typeface="Inter"/>
              </a:defRPr>
            </a:pPr>
            <a:r>
              <a:t>AI drafting, analytics, reporting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5486400"/>
            <a:ext cx="5486400" cy="10058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55778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  <a:latin typeface="Playfair Display"/>
              </a:defRPr>
            </a:pPr>
            <a:r>
              <a:t>Communication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943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8B8C8"/>
                </a:solidFill>
                <a:latin typeface="Inter"/>
              </a:defRPr>
            </a:pPr>
            <a:r>
              <a:t>Email, SMS, client portal, Slack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2743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Playfair Display"/>
              </a:defRPr>
            </a:pPr>
            <a:r>
              <a:t>The Recommended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502920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  <a:latin typeface="Playfair Display"/>
              </a:defRPr>
            </a:pPr>
            <a:r>
              <a:t>Automation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5F5"/>
                </a:solidFill>
                <a:latin typeface="Inter"/>
              </a:defRPr>
            </a:pPr>
            <a:r>
              <a:t>n8n (self-hosted)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14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Central workflow orchestration — connects every tool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02920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00FF"/>
                </a:solidFill>
                <a:latin typeface="Playfair Display"/>
              </a:defRPr>
            </a:pPr>
            <a:r>
              <a:t>Data &amp; CRM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945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5F5"/>
                </a:solidFill>
                <a:latin typeface="Inter"/>
              </a:defRPr>
            </a:pPr>
            <a:r>
              <a:t>Airtable + Clio/MyCase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514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Structured data layer + legal practice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91840"/>
            <a:ext cx="502920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74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  <a:latin typeface="Playfair Display"/>
              </a:defRPr>
            </a:pPr>
            <a:r>
              <a:t>Communication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84048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5F5"/>
                </a:solidFill>
                <a:latin typeface="Inter"/>
              </a:defRPr>
            </a:pPr>
            <a:r>
              <a:t>Twilio + SendGrid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160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SMS and email automation for client touchpoints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291840"/>
            <a:ext cx="502920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474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00FF"/>
                </a:solidFill>
                <a:latin typeface="Playfair Display"/>
              </a:defRPr>
            </a:pPr>
            <a:r>
              <a:t>Documents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84048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5F5"/>
                </a:solidFill>
                <a:latin typeface="Inter"/>
              </a:defRPr>
            </a:pPr>
            <a:r>
              <a:t>Pandadoc + Google 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160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Template-driven assembly with e-signature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937760"/>
            <a:ext cx="502920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120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  <a:latin typeface="Playfair Display"/>
              </a:defRPr>
            </a:pPr>
            <a:r>
              <a:t>Marketing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48640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5F5"/>
                </a:solidFill>
                <a:latin typeface="Inter"/>
              </a:defRPr>
            </a:pPr>
            <a:r>
              <a:t>WordPress + Remotion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806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SEO content + faceless video production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937760"/>
            <a:ext cx="502920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5120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00FF"/>
                </a:solidFill>
                <a:latin typeface="Playfair Display"/>
              </a:defRPr>
            </a:pPr>
            <a:r>
              <a:t>Scheduling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48640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5F5"/>
                </a:solidFill>
                <a:latin typeface="Inter"/>
              </a:defRPr>
            </a:pPr>
            <a:r>
              <a:t>Cal.com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806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Client-facing booking with automated reminders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FFFF"/>
                </a:solidFill>
                <a:latin typeface="Playfair Display"/>
              </a:defRPr>
            </a:pPr>
            <a:r>
              <a:t>09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474720"/>
            <a:ext cx="2743200" cy="54864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5F5F5"/>
                </a:solidFill>
                <a:latin typeface="Playfair Display"/>
              </a:defRPr>
            </a:pPr>
            <a:r>
              <a:t>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8B8C8"/>
                </a:solidFill>
                <a:latin typeface="Inter"/>
              </a:defRPr>
            </a:pPr>
            <a:r>
              <a:t>A phased approach that starts generating ROI in 30 days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00FFFF"/>
                </a:solidFill>
                <a:latin typeface="Playfair Display"/>
              </a:defRPr>
            </a:pPr>
            <a:r>
              <a:t>90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5F5F5"/>
                </a:solidFill>
                <a:latin typeface="Playfair Display"/>
              </a:defRPr>
            </a:pPr>
            <a:r>
              <a:t>From manual chaos to automated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474720"/>
            <a:ext cx="3474720" cy="29260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FFFF"/>
                </a:solidFill>
                <a:latin typeface="Inter"/>
              </a:defRPr>
            </a:pPr>
            <a:r>
              <a:t>Days 1-30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5F5"/>
                </a:solidFill>
                <a:latin typeface="Playfair Display"/>
              </a:defRPr>
            </a:pPr>
            <a:r>
              <a:t>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Intake automation + time tracking.</a:t>
            </a:r>
            <a:br/>
            <a:r>
              <a:t>Immediate ROI from lead capture</a:t>
            </a:r>
            <a:br/>
            <a:r>
              <a:t>and billing recovery.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474720"/>
            <a:ext cx="3474720" cy="29260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6576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00FF"/>
                </a:solidFill>
                <a:latin typeface="Inter"/>
              </a:defRPr>
            </a:pPr>
            <a:r>
              <a:t>Days 31-60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0233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5F5"/>
                </a:solidFill>
                <a:latin typeface="Playfair Display"/>
              </a:defRPr>
            </a:pPr>
            <a:r>
              <a:t>Expansion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5720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Document assembly + client comms.</a:t>
            </a:r>
            <a:br/>
            <a:r>
              <a:t>Reduce associate hours on</a:t>
            </a:r>
            <a:br/>
            <a:r>
              <a:t>repetitive work by 60%.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474720"/>
            <a:ext cx="3474720" cy="29260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6576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D4D4"/>
                </a:solidFill>
                <a:latin typeface="Inter"/>
              </a:defRPr>
            </a:pPr>
            <a:r>
              <a:t>Days 61-90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0233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5F5"/>
                </a:solidFill>
                <a:latin typeface="Playfair Display"/>
              </a:defRPr>
            </a:pPr>
            <a:r>
              <a:t>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5720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Marketing engine + full integration.</a:t>
            </a:r>
            <a:br/>
            <a:r>
              <a:t>Self-sustaining lead generation</a:t>
            </a:r>
            <a:br/>
            <a:r>
              <a:t>and operational automation.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Playfair Display"/>
              </a:defRPr>
            </a:pPr>
            <a:r>
              <a:t>Projected Annual ROI by Practice Area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FFFF"/>
                </a:solidFill>
                <a:latin typeface="Playfair Display"/>
              </a:defRPr>
            </a:pPr>
            <a:r>
              <a:t>$120K+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8288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5F5"/>
                </a:solidFill>
                <a:latin typeface="Playfair Display"/>
              </a:defRPr>
            </a:pPr>
            <a:r>
              <a:t>Bankruptcy Solo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2860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8B8C8"/>
                </a:solidFill>
                <a:latin typeface="Inter"/>
              </a:defRPr>
            </a:pPr>
            <a:r>
              <a:t>Recovered billable time + faster petition filing + automated creditor communications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00FF"/>
                </a:solidFill>
                <a:latin typeface="Playfair Display"/>
              </a:defRPr>
            </a:pPr>
            <a:r>
              <a:t>$150K+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3832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5F5"/>
                </a:solidFill>
                <a:latin typeface="Playfair Display"/>
              </a:defRPr>
            </a:pPr>
            <a:r>
              <a:t>Criminal Defense 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840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8B8C8"/>
                </a:solidFill>
                <a:latin typeface="Inter"/>
              </a:defRPr>
            </a:pPr>
            <a:r>
              <a:t>Lead capture speed + document assembly + automated case status updates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D4D4"/>
                </a:solidFill>
                <a:latin typeface="Playfair Display"/>
              </a:defRPr>
            </a:pPr>
            <a:r>
              <a:t>$100K+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9377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5F5"/>
                </a:solidFill>
                <a:latin typeface="Playfair Display"/>
              </a:defRPr>
            </a:pPr>
            <a:r>
              <a:t>Administrative Law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3949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8B8C8"/>
                </a:solidFill>
                <a:latin typeface="Inter"/>
              </a:defRPr>
            </a:pPr>
            <a:r>
              <a:t>Deadline compliance + document automation + agency response efficiency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12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F5F5"/>
                </a:solidFill>
                <a:latin typeface="Playfair Display"/>
              </a:defRPr>
            </a:pPr>
            <a:r>
              <a:t>Ready to Stop Losing $100K/Year?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B8B8C8"/>
                </a:solidFill>
                <a:latin typeface="Inter"/>
              </a:defRPr>
            </a:pPr>
            <a:r>
              <a:t>Book a free 30-minute diagnostic call. We'll review your scorecard results and map the first 90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FFFF"/>
                </a:solidFill>
                <a:latin typeface="Inter"/>
              </a:defRPr>
            </a:pPr>
            <a:r>
              <a:t>Book Your Diagnostic Call → cal.com/theinnovativenative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3949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FFFF"/>
                </a:solidFill>
                <a:latin typeface="Inter"/>
              </a:defRPr>
            </a:pPr>
            <a:r>
              <a:t>Download the ROI Calculator → included with this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FFFF"/>
                </a:solidFill>
                <a:latin typeface="Inter"/>
              </a:defRPr>
            </a:pPr>
            <a:r>
              <a:t>Take the Free Scorecard → stan.store/theinnovativenative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8404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8B8C8"/>
                </a:solidFill>
                <a:latin typeface="Inter"/>
              </a:defRPr>
            </a:pPr>
            <a:r>
              <a:t>The Innovative Native LLC — theinnovativenative.com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