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23790" y="1828800"/>
            <a:ext cx="27432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200" b="1">
                <a:solidFill>
                  <a:srgbClr val="D4A853"/>
                </a:solidFill>
                <a:latin typeface="Playfair Display"/>
              </a:defRPr>
            </a:pPr>
            <a:r>
              <a:t>AI Tool Privilege Risk Comparison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000" b="0">
                <a:solidFill>
                  <a:srgbClr val="B8B8C8"/>
                </a:solidFill>
                <a:latin typeface="Inter"/>
              </a:defRPr>
            </a:pPr>
            <a:r>
              <a:t>Post-Heppner Analysis: Which AI tools preserve attorney-client privilege?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The Innovative Native  |  March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The Heppner Standard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After US v. Heppner (SDNY, Feb 2026), privilege preservation requires: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728655" cy="82296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D4A853"/>
                </a:solidFill>
                <a:latin typeface="Playfair Display"/>
              </a:defRPr>
            </a:pPr>
            <a:r>
              <a:t>1.  No third-party data logging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Tool cannot store, log, or retain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82296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D4A853"/>
                </a:solidFill>
                <a:latin typeface="Playfair Display"/>
              </a:defRPr>
            </a:pPr>
            <a:r>
              <a:t>2.  No training data use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Inputs cannot be used to train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0728655" cy="82296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D4A853"/>
                </a:solidFill>
                <a:latin typeface="Playfair Display"/>
              </a:defRPr>
            </a:pPr>
            <a:r>
              <a:t>3.  Confidentiality-preserving ToS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Terms must not undermine "reasonable expectation of privacy"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728655" cy="82296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D4A853"/>
                </a:solidFill>
                <a:latin typeface="Playfair Display"/>
              </a:defRPr>
            </a:pPr>
            <a:r>
              <a:t>4.  Firm-controlled infrastructure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Ideally, data never leaves firm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HIGH RISK — Consumer AI (Heppner Directly Applies)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926080"/>
                <a:gridCol w="231617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Tool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Data Logged?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Training Use?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Privilege Status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ChatGPT (Free/Plus)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Yes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Yes (opt-out, still transmitted)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WAIVED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Claude (Free/Pro)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Yes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Opt-out available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WAIVED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Gemini (Free)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Yes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Yes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WAIVED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Microsoft Copilot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Yes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Yes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WAIVED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Perplexity AI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Yes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Yes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WAIVED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MEDIUM RISK — Enterprise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645920"/>
                <a:gridCol w="2011680"/>
                <a:gridCol w="249905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Tool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Data Logged?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Training?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Halluc. Rate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Privilege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Harvey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 training use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17-34%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PRESERVED*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ChatGPT Enterprise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 training use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Unknown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PRESERVED*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Westlaw AI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Thomson Reuters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34%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PRESERVED*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Lexis+ AI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RELX servers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17%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PRESERVED*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Casetext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Thomson Reuters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~34%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PRESERVED*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LOWER RISK — Private / Self-Hosted AI (Heppner-Proof)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7286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1645920"/>
                <a:gridCol w="2286000"/>
                <a:gridCol w="176753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Tool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Data Logged?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Training?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Halluc. Rate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Privilege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Private RAG (Cerebro)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 external transmission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0% (retrieval-only)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PRESERVED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Self-hosted LLM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Firm-controlled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Varies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PRESERVED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On-premise search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Firm-controlled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N/A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PRESERVED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Decision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478505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Your Priority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Recommended Tier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Why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Privilege preservation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LOWER (Private RAG)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No third-party ToS, no data leaves firm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Citation accuracy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LOWER (Private RAG)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0% hallucination by architecture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Institutional knowledge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LOWER (Private RAG)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Only system that indexes YOUR docs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Cost efficiency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LOWER (Private RAG)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$500/mo vs. $2,500-$25,000/mo enterprise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General research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MEDIUM (Enterprise)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Acceptable if no privileged data entered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Quick answers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HIGH (Consumer)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Free/fast, but NEVER for privileged work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Cost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011680"/>
                <a:gridCol w="341345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Tool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Monthly Cost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Min. Seats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Annual (10 attorneys)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ChatGPT Plus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$20/user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$2,400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Claude Pro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$20/user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$2,400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Harvey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$100-500/user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25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$30,000-$150,000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Westlaw AI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$200-400/user*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$24,000-$48,000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Lexis+ AI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$150-350/user*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$18,000-$42,000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Cerebro (Private RAG)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$500 flat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$8,500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00BCD4"/>
                </a:solidFill>
                <a:latin typeface="Playfair Display"/>
              </a:defRPr>
            </a:pPr>
            <a:r>
              <a:t>Protect Your Firm’s Privilege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Free AI Privilege Risk Assessment: theinnovativenative.com/checklist/ai-privilege-risk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Stop entering privileged data into consumer AI tools — today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Evaluate private RAG solutions within 60 days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Free AI Governance Policy Template available on request</a:t>
            </a:r>
          </a:p>
          <a:p>
            <a:pPr algn="l">
              <a:spcBef>
                <a:spcPts val="16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Sources: US v. Heppner (SDNY) | Stanford HAI | ABA Opinion 512 | ABA TechReport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