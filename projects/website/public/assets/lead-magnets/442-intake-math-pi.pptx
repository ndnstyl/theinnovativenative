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23790" y="1828800"/>
            <a:ext cx="27432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200" b="1">
                <a:solidFill>
                  <a:srgbClr val="D4A853"/>
                </a:solidFill>
                <a:latin typeface="Playfair Display"/>
              </a:defRPr>
            </a:pPr>
            <a:r>
              <a:t>The $442 Math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000" b="0">
                <a:solidFill>
                  <a:srgbClr val="B8B8C8"/>
                </a:solidFill>
                <a:latin typeface="Inter"/>
              </a:defRPr>
            </a:pPr>
            <a:r>
              <a:t>What Broken Intake Actually Costs Your PI Firm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ROI Breakdown  |  The Innovative Native  |  March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What You Pay Per Lead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325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$442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average cost per lead</a:t>
            </a:r>
            <a:br/>
            <a:r>
              <a:t>Google Ads, PI firms (LEXGRO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Cost Per Lead by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341345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Channel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Cost/Lead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Lead→Client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Cost/Signed Case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Google Ads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$442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5-8%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$5,525 - $8,840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Local Service Ads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$378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8-12%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$3,150 - $4,725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Social Media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$286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1-4%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$7,150 - $28,600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SEO / Organic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$183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15-20%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$915 - $1,220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Referrals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$0 - $100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15-20%+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$0 - $667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Where Your Money Disappears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121224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F5F5"/>
                </a:solidFill>
                <a:latin typeface="Inter"/>
              </a:defRPr>
            </a:pPr>
            <a:r>
              <a:t>100 Leads Arrive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047" y="2286000"/>
            <a:ext cx="8229600" cy="594360"/>
          </a:xfrm>
          <a:prstGeom prst="roundRect">
            <a:avLst/>
          </a:prstGeom>
          <a:solidFill>
            <a:srgbClr val="121224"/>
          </a:solidFill>
          <a:ln w="254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F5F5"/>
                </a:solidFill>
                <a:latin typeface="Inter"/>
              </a:defRPr>
            </a:pPr>
            <a:r>
              <a:t>40 Get Answered (60% go to voicemail)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5447" y="3063240"/>
            <a:ext cx="6400800" cy="594360"/>
          </a:xfrm>
          <a:prstGeom prst="roundRect">
            <a:avLst/>
          </a:prstGeom>
          <a:solidFill>
            <a:srgbClr val="121224"/>
          </a:solidFill>
          <a:ln w="254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F5F5"/>
                </a:solidFill>
                <a:latin typeface="Inter"/>
              </a:defRPr>
            </a:pPr>
            <a:r>
              <a:t>28 Reach Consultation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9847" y="3840480"/>
            <a:ext cx="4572000" cy="594360"/>
          </a:xfrm>
          <a:prstGeom prst="roundRect">
            <a:avLst/>
          </a:prstGeom>
          <a:solidFill>
            <a:srgbClr val="121224"/>
          </a:solidFill>
          <a:ln w="25400">
            <a:solidFill>
              <a:srgbClr val="CF4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F5F5"/>
                </a:solidFill>
                <a:latin typeface="Inter"/>
              </a:defRPr>
            </a:pPr>
            <a:r>
              <a:t>7 Sign a Retainer (7% conversion)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47" y="4617720"/>
            <a:ext cx="3200400" cy="594360"/>
          </a:xfrm>
          <a:prstGeom prst="roundRect">
            <a:avLst/>
          </a:prstGeom>
          <a:solidFill>
            <a:srgbClr val="121224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F5F5"/>
                </a:solidFill>
                <a:latin typeface="Inter"/>
              </a:defRPr>
            </a:pPr>
            <a:r>
              <a:t>5 Reach Settlement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5087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D4A853"/>
                </a:solidFill>
                <a:latin typeface="Playfair Display"/>
              </a:defRPr>
            </a:pPr>
            <a:r>
              <a:t>Key Stats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00BCD4"/>
                </a:solidFill>
                <a:latin typeface="Inter"/>
              </a:defRPr>
            </a:pPr>
            <a:r>
              <a:t>•  60% of leads never answered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00BCD4"/>
                </a:solidFill>
                <a:latin typeface="Inter"/>
              </a:defRPr>
            </a:pPr>
            <a:r>
              <a:t>•  80% who hit voicemail never call back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00BCD4"/>
                </a:solidFill>
                <a:latin typeface="Inter"/>
              </a:defRPr>
            </a:pPr>
            <a:r>
              <a:t>•  67% hire the first attorney who answers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00BCD4"/>
                </a:solidFill>
                <a:latin typeface="Inter"/>
              </a:defRPr>
            </a:pPr>
            <a:r>
              <a:t>•  391% more likely to convert within 1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ROI: $10,000/Month Google Ads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7277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535070"/>
                <a:gridCol w="353507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Current (Industry Avg)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With Intake Automation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Leads generated ($442/lead)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22.6 leads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22.6 leads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Leads answered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9 (40%)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21 (93%)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Consultations booked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6.3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14.7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Cases retained (25%)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1.6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3.7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Avg PI fee (33% of $55K)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$18,168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$18,168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Monthly revenue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$29,069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$67,222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Annual revenue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$348,828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$806,664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Revenue left on the table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$457,836/year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—</a:t>
                      </a:r>
                    </a:p>
                  </a:txBody>
                  <a:tcPr marL="76200" marR="76200" marT="50800" marB="50800"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D4A853"/>
                </a:solidFill>
                <a:latin typeface="Playfair Display"/>
              </a:defRPr>
            </a:pPr>
            <a:r>
              <a:t>Industry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365760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40%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of law firms answer</a:t>
            </a:r>
            <a:br/>
            <a:r>
              <a:t>phone calls (down from 56%)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25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33%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respond to email</a:t>
            </a:r>
            <a:br/>
            <a:r>
              <a:t>inquiries (down from 40%)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325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80%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who reach voicemail</a:t>
            </a:r>
            <a:br/>
            <a:r>
              <a:t>never call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67%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hire the first</a:t>
            </a:r>
            <a:br/>
            <a:r>
              <a:t>attorney who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154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391%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more likely to convert</a:t>
            </a:r>
            <a:br/>
            <a:r>
              <a:t>if contacted within 1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154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BCD4"/>
                </a:solidFill>
                <a:latin typeface="Playfair Display"/>
              </a:defRPr>
            </a:pPr>
            <a:r>
              <a:t>7%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B8B8C8"/>
                </a:solidFill>
                <a:latin typeface="Inter"/>
              </a:defRPr>
            </a:pPr>
            <a:r>
              <a:t>PI lead conversion</a:t>
            </a:r>
            <a:br/>
            <a:r>
              <a:t>lowest of any practice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8B8C8"/>
                </a:solidFill>
                <a:latin typeface="Inter"/>
              </a:defRPr>
            </a:pPr>
            <a:r>
              <a:t>Sources: Clio Secret Shopper 2024, CasePeer, LEXGRO 2026, Lead Response Management Study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00BCD4"/>
                </a:solidFill>
                <a:latin typeface="Playfair Display"/>
              </a:defRPr>
            </a:pPr>
            <a:r>
              <a:t>Fix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Step 1: Audit your intake — pull call logs for the last 90 days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Step 2: Calculate your actual answer rate, response time, conversion rate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✓  Step 3: Fix the leak — intake automation pays for itself in the first month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</a:p>
          <a:p>
            <a:pPr algn="l"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5F5F5"/>
                </a:solidFill>
                <a:latin typeface="Inter"/>
              </a:defRPr>
            </a:pPr>
            <a:r>
              <a:t>mike@theinnovativenative.com  |  This is what we do.</a:t>
            </a:r>
          </a:p>
          <a:p>
            <a:pPr algn="l">
              <a:spcBef>
                <a:spcPts val="1600"/>
              </a:spcBef>
              <a:spcAft>
                <a:spcPts val="600"/>
              </a:spcAft>
              <a:defRPr sz="1600" b="0">
                <a:solidFill>
                  <a:srgbClr val="B8B8C8"/>
                </a:solidFill>
                <a:latin typeface="Inter"/>
              </a:defRPr>
            </a:pPr>
            <a:r>
              <a:t>Prepared by Mike Soto  |  The Innovative Native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