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US v. Heppner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What Every Managing Partner Needs to Know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Executive Briefing  |  February 2026  |  SDNY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The Ruling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US v. Heppner  |  Southern District of New York  |  Judge Rakoff  |  February 12,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57400"/>
            <a:ext cx="9997135" cy="20116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40280"/>
            <a:ext cx="9265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D4A853"/>
                </a:solidFill>
                <a:latin typeface="Playfair Display"/>
              </a:defRPr>
            </a:pPr>
            <a:r>
              <a:t>"Submitting information to a system with express provisions undermining confidentiality was inconsistent with maintaining a reasonable expectation of privacy."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F5F5F5"/>
                </a:solidFill>
                <a:latin typeface="Inter"/>
              </a:defRPr>
            </a:pPr>
            <a:r>
              <a:t>A federal judge ruled that documents created using consumer AI tools (ChatGPT, Claude, Gemini) may not be protected by attorney-client privilege if those tools’ Terms of Service permit data logging, storage, or use for model training.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F5F5F5"/>
                </a:solidFill>
                <a:latin typeface="Inter"/>
              </a:defRPr>
            </a:pPr>
            <a:r>
              <a:t>Impact: Any client data entered into consumer AI tools may lose privilege protection. Opposing counsel can now cite Heppner to challenge AI-assisted work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69%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of legal professionals</a:t>
            </a:r>
            <a:br/>
            <a:r>
              <a:t>use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43%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of firms have ZERO</a:t>
            </a:r>
            <a:br/>
            <a:r>
              <a:t>AI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34%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hallucination rate</a:t>
            </a:r>
            <a:br/>
            <a:r>
              <a:t>Westlaw AI (Stanford)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17%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hallucination rate</a:t>
            </a:r>
            <a:br/>
            <a:r>
              <a:t>Lexis+ AI (Stanford)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1,000+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court cases involving</a:t>
            </a:r>
            <a:br/>
            <a:r>
              <a:t>AI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$100K+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in combined sanctions</a:t>
            </a:r>
            <a:br/>
            <a:r>
              <a:t>for AI misuse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Three Tiers of AI Privilege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496793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Risk Level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Tools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Why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 marL="76200" marR="76200" marT="50800" marB="50800">
                    <a:solidFill>
                      <a:srgbClr val="32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ChatGPT, Claude (free), Gemini, Copilot (consumer)</a:t>
                      </a:r>
                    </a:p>
                  </a:txBody>
                  <a:tcPr marL="76200" marR="76200" marT="50800" marB="50800">
                    <a:solidFill>
                      <a:srgbClr val="32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ToS permit data logging/training. Heppner directly applies.</a:t>
                      </a:r>
                    </a:p>
                  </a:txBody>
                  <a:tcPr marL="76200" marR="76200" marT="50800" marB="50800">
                    <a:solidFill>
                      <a:srgbClr val="32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76200" marR="76200" marT="50800" marB="50800">
                    <a:solidFill>
                      <a:srgbClr val="3228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Harvey, ChatGPT Enterprise, Westlaw AI, Lexis+ AI</a:t>
                      </a:r>
                    </a:p>
                  </a:txBody>
                  <a:tcPr marL="76200" marR="76200" marT="50800" marB="50800">
                    <a:solidFill>
                      <a:srgbClr val="3228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Enterprise agreements limit data use, but third-party infra remains.</a:t>
                      </a:r>
                    </a:p>
                  </a:txBody>
                  <a:tcPr marL="76200" marR="76200" marT="50800" marB="50800">
                    <a:solidFill>
                      <a:srgbClr val="3228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LOWER</a:t>
                      </a:r>
                    </a:p>
                  </a:txBody>
                  <a:tcPr marL="76200" marR="76200" marT="50800" marB="50800">
                    <a:solidFill>
                      <a:srgbClr val="0F28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Self-hosted models, Private RAG systems</a:t>
                      </a:r>
                    </a:p>
                  </a:txBody>
                  <a:tcPr marL="76200" marR="76200" marT="50800" marB="50800">
                    <a:solidFill>
                      <a:srgbClr val="0F28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 third-party ToS. Data never leaves firm. Privilege preserved.</a:t>
                      </a:r>
                    </a:p>
                  </a:txBody>
                  <a:tcPr marL="76200" marR="76200" marT="50800" marB="50800">
                    <a:solidFill>
                      <a:srgbClr val="0F281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Monday Morning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BCD4"/>
                </a:solidFill>
                <a:latin typeface="Playfair Display"/>
              </a:defRPr>
            </a:pPr>
            <a:r>
              <a:t>1. AUDIT  (This Week)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Inventory every AI tool in use across your firm — including personal accounts attorneys may be using. 35% of data breaches involve “shadow data” in unmanaged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728655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BCD4"/>
                </a:solidFill>
                <a:latin typeface="Playfair Display"/>
              </a:defRPr>
            </a:pPr>
            <a:r>
              <a:t>2. CLASSIFY  (This Week)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Map each tool against the three-tier risk framework. Determine which tools handle privileged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728655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BCD4"/>
                </a:solidFill>
                <a:latin typeface="Playfair Display"/>
              </a:defRPr>
            </a:pPr>
            <a:r>
              <a:t>3. POLICY  (Within 30 Days)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Adopt a written AI governance policy: approved vs. prohibited tools, ABA Model Rules 1.1/1.6/5.3 safeguards, training requirements, incident response procedures.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BCD4"/>
                </a:solidFill>
                <a:latin typeface="Playfair Display"/>
              </a:defRPr>
            </a:pPr>
            <a:r>
              <a:t>4. ARCHITECTURE  (Within 60 Days)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Evaluate private AI solutions. Private RAG systems: zero hallucination, no third-party ToS, full audit trail, institutional knowledge capture.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Take Action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AI Privilege Risk Checklist: theinnovativenative.com/checklist/ai-privilege-risk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AI Governance Policy Template: Available on request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15-Minute AI Governance Audit: calendly.com/theinnovativenative-info/ai-discovery-call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Prepared by The Innovative Native  |  mike@theinnovativenative.com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