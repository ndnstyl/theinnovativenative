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828800"/>
            <a:ext cx="10728655" cy="25603"/>
          </a:xfrm>
          <a:prstGeom prst="rect">
            <a:avLst/>
          </a:prstGeom>
          <a:solidFill>
            <a:srgbClr val="D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920240"/>
            <a:ext cx="1072865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D4A853"/>
                </a:solidFill>
                <a:latin typeface="Playfair Display"/>
              </a:defRPr>
            </a:pPr>
            <a:r>
              <a:t>AI Demand Letter Tool</a:t>
            </a:r>
          </a:p>
          <a:p>
            <a:pPr algn="ctr">
              <a:defRPr sz="4000" b="1">
                <a:solidFill>
                  <a:srgbClr val="D4A853"/>
                </a:solidFill>
                <a:latin typeface="Playfair Display"/>
              </a:defRPr>
            </a:pPr>
            <a:r>
              <a:t>Comparison Matrix + ROI Calculator</a:t>
            </a:r>
          </a:p>
          <a:p>
            <a:pPr algn="ctr">
              <a:defRPr sz="1800">
                <a:solidFill>
                  <a:srgbClr val="B8B8C8"/>
                </a:solidFill>
                <a:latin typeface="Inter"/>
              </a:defRPr>
            </a:pPr>
            <a:r>
              <a:t>Side-by-side scoring of 4 tools. ROI math for your firm.</a:t>
            </a:r>
          </a:p>
          <a:p>
            <a:pPr algn="ctr">
              <a:defRPr sz="1400">
                <a:solidFill>
                  <a:srgbClr val="B8B8C8"/>
                </a:solidFill>
                <a:latin typeface="Inter"/>
              </a:defRPr>
            </a:pPr>
            <a:r>
              <a:t/>
            </a:r>
          </a:p>
          <a:p>
            <a:pPr algn="ctr">
              <a:defRPr sz="1400">
                <a:solidFill>
                  <a:srgbClr val="B8B8C8"/>
                </a:solidFill>
                <a:latin typeface="Inter"/>
              </a:defRPr>
            </a:pPr>
            <a:r>
              <a:t>Prepared by Mike Soto, The Innovative Native  |  April 2026</a:t>
            </a:r>
          </a:p>
          <a:p>
            <a:pPr algn="ctr">
              <a:defRPr sz="1300">
                <a:solidFill>
                  <a:srgbClr val="B8B8C8"/>
                </a:solidFill>
                <a:latin typeface="Inter"/>
              </a:defRPr>
            </a:pPr>
            <a:r>
              <a:t>For: PI firm owners, managing partners, operations leads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446520"/>
            <a:ext cx="10728655" cy="25603"/>
          </a:xfrm>
          <a:prstGeom prst="rect">
            <a:avLst/>
          </a:prstGeom>
          <a:solidFill>
            <a:srgbClr val="D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9224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B8B8C8"/>
                </a:solidFill>
                <a:latin typeface="Inter"/>
              </a:defRPr>
            </a:pPr>
            <a:r>
              <a:t>theinnovativenative.com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143000"/>
            <a:ext cx="10728655" cy="25603"/>
          </a:xfrm>
          <a:prstGeom prst="rect">
            <a:avLst/>
          </a:prstGeom>
          <a:solidFill>
            <a:srgbClr val="D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2865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D4A853"/>
                </a:solidFill>
                <a:latin typeface="Playfair Display"/>
              </a:defRPr>
            </a:pPr>
            <a:r>
              <a:t>The Bottleneck Nobody Talks About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874519"/>
            <a:ext cx="3108960" cy="12801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965960"/>
            <a:ext cx="28346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00BCD4"/>
                </a:solidFill>
                <a:latin typeface="Playfair Display"/>
              </a:defRPr>
            </a:pPr>
            <a:r>
              <a:t>5–15 hrs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624327"/>
            <a:ext cx="2834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B8B8C8"/>
                </a:solidFill>
                <a:latin typeface="Inter"/>
              </a:defRPr>
            </a:pPr>
            <a:r>
              <a:t>per demand letter</a:t>
            </a:r>
          </a:p>
        </p:txBody>
      </p:sp>
      <p:sp>
        <p:nvSpPr>
          <p:cNvPr id="7" name="Rectangle 6"/>
          <p:cNvSpPr/>
          <p:nvPr/>
        </p:nvSpPr>
        <p:spPr>
          <a:xfrm>
            <a:off x="4087368" y="1874519"/>
            <a:ext cx="3108960" cy="12801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24528" y="1965960"/>
            <a:ext cx="28346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00BCD4"/>
                </a:solidFill>
                <a:latin typeface="Playfair Display"/>
              </a:defRPr>
            </a:pPr>
            <a:r>
              <a:t>200–600 hrs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24528" y="2624327"/>
            <a:ext cx="2834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B8B8C8"/>
                </a:solidFill>
                <a:latin typeface="Inter"/>
              </a:defRPr>
            </a:pPr>
            <a:r>
              <a:t>per billing cycle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43216" y="1874519"/>
            <a:ext cx="3108960" cy="12801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0376" y="1965960"/>
            <a:ext cx="28346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00BCD4"/>
                </a:solidFill>
                <a:latin typeface="Playfair Display"/>
              </a:defRPr>
            </a:pPr>
            <a:r>
              <a:t>$6K–$18K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0376" y="2624327"/>
            <a:ext cx="2834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B8B8C8"/>
                </a:solidFill>
                <a:latin typeface="Inter"/>
              </a:defRPr>
            </a:pPr>
            <a:r>
              <a:t>in paralegal labor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337560"/>
            <a:ext cx="10728655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5F5F5"/>
                </a:solidFill>
                <a:latin typeface="Inter"/>
              </a:defRPr>
            </a:pPr>
            <a:r>
              <a:t>Your paralegal spends 5 to 15 hours writing a single demand letter: gather records,</a:t>
            </a:r>
          </a:p>
          <a:p>
            <a:pPr>
              <a:defRPr sz="1400">
                <a:solidFill>
                  <a:srgbClr val="F5F5F5"/>
                </a:solidFill>
                <a:latin typeface="Inter"/>
              </a:defRPr>
            </a:pPr>
            <a:r>
              <a:t>summarize injuries, calculate damages, research settlements, draft, edit, review, send.</a:t>
            </a:r>
          </a:p>
          <a:p>
            <a:pPr>
              <a:defRPr sz="1400">
                <a:solidFill>
                  <a:srgbClr val="B8B8C8"/>
                </a:solidFill>
                <a:latin typeface="Inter"/>
              </a:defRPr>
            </a:pPr>
            <a:r>
              <a:t/>
            </a:r>
          </a:p>
          <a:p>
            <a:pPr>
              <a:defRPr sz="1400">
                <a:solidFill>
                  <a:srgbClr val="F5F5F5"/>
                </a:solidFill>
                <a:latin typeface="Inter"/>
              </a:defRPr>
            </a:pPr>
            <a:r>
              <a:t>Multiply that by 40 active cases: 200–600 hours per cycle. At $30/hr, that is</a:t>
            </a:r>
          </a:p>
          <a:p>
            <a:pPr>
              <a:defRPr sz="1400">
                <a:solidFill>
                  <a:srgbClr val="F5F5F5"/>
                </a:solidFill>
                <a:latin typeface="Inter"/>
              </a:defRPr>
            </a:pPr>
            <a:r>
              <a:t>$6,000–$18,000 in labor. Per round. This is not a talent problem — it's an automation problem.</a:t>
            </a:r>
          </a:p>
          <a:p>
            <a:pPr>
              <a:defRPr sz="1400">
                <a:solidFill>
                  <a:srgbClr val="B8B8C8"/>
                </a:solidFill>
                <a:latin typeface="Inter"/>
              </a:defRPr>
            </a:pPr>
            <a:r>
              <a:t/>
            </a:r>
          </a:p>
          <a:p>
            <a:pPr>
              <a:defRPr sz="1400">
                <a:solidFill>
                  <a:srgbClr val="F5F5F5"/>
                </a:solidFill>
                <a:latin typeface="Inter"/>
              </a:defRPr>
            </a:pPr>
            <a:r>
              <a:t>Harvard Law School (2025): tasks requiring 16 hours completed in 3–4 minutes with AI.</a:t>
            </a:r>
          </a:p>
          <a:p>
            <a:pPr>
              <a:defRPr sz="1400">
                <a:solidFill>
                  <a:srgbClr val="F5F5F5"/>
                </a:solidFill>
                <a:latin typeface="Inter"/>
              </a:defRPr>
            </a:pPr>
            <a:r>
              <a:t>A 100x productivity gain on your biggest operational bottleneck.</a:t>
            </a:r>
          </a:p>
          <a:p>
            <a:pPr>
              <a:defRPr sz="1400">
                <a:solidFill>
                  <a:srgbClr val="B8B8C8"/>
                </a:solidFill>
                <a:latin typeface="Inter"/>
              </a:defRPr>
            </a:pPr>
            <a:r>
              <a:t/>
            </a:r>
          </a:p>
          <a:p>
            <a:pPr>
              <a:defRPr sz="1400">
                <a:solidFill>
                  <a:srgbClr val="F5F5F5"/>
                </a:solidFill>
                <a:latin typeface="Inter"/>
              </a:defRPr>
            </a:pPr>
            <a:r>
              <a:t>The four tools below are shipping production demand letters in 2026. Pick one. Start this month.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6446520"/>
            <a:ext cx="10728655" cy="25603"/>
          </a:xfrm>
          <a:prstGeom prst="rect">
            <a:avLst/>
          </a:prstGeom>
          <a:solidFill>
            <a:srgbClr val="D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649224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B8B8C8"/>
                </a:solidFill>
                <a:latin typeface="Inter"/>
              </a:defRPr>
            </a:pPr>
            <a:r>
              <a:t>theinnovativenative.com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143000"/>
            <a:ext cx="10728655" cy="25603"/>
          </a:xfrm>
          <a:prstGeom prst="rect">
            <a:avLst/>
          </a:prstGeom>
          <a:solidFill>
            <a:srgbClr val="D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2865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D4A853"/>
                </a:solidFill>
                <a:latin typeface="Playfair Display"/>
              </a:defRPr>
            </a:pPr>
            <a:r>
              <a:t>4 Tools, Head to Head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828800"/>
          <a:ext cx="10680192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194560"/>
                <a:gridCol w="1554480"/>
                <a:gridCol w="2423160"/>
                <a:gridCol w="2496312"/>
              </a:tblGrid>
              <a:tr h="841248">
                <a:tc>
                  <a:txBody>
                    <a:bodyPr wrap="square"/>
                    <a:lstStyle/>
                    <a:p>
                      <a:pPr algn="ctr">
                        <a:defRPr sz="1300" b="1">
                          <a:solidFill>
                            <a:srgbClr val="0A0A14"/>
                          </a:solidFill>
                          <a:latin typeface="Inter"/>
                        </a:defRPr>
                      </a:pPr>
                      <a:r>
                        <a:t>Tool</a:t>
                      </a:r>
                    </a:p>
                  </a:txBody>
                  <a:tcPr marL="76200" marR="76200" marT="50800" marB="50800">
                    <a:solidFill>
                      <a:srgbClr val="D4A85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300" b="1">
                          <a:solidFill>
                            <a:srgbClr val="0A0A14"/>
                          </a:solidFill>
                          <a:latin typeface="Inter"/>
                        </a:defRPr>
                      </a:pPr>
                      <a:r>
                        <a:t>Starting Cost</a:t>
                      </a:r>
                    </a:p>
                  </a:txBody>
                  <a:tcPr marL="76200" marR="76200" marT="50800" marB="50800">
                    <a:solidFill>
                      <a:srgbClr val="D4A85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300" b="1">
                          <a:solidFill>
                            <a:srgbClr val="0A0A14"/>
                          </a:solidFill>
                          <a:latin typeface="Inter"/>
                        </a:defRPr>
                      </a:pPr>
                      <a:r>
                        <a:t>Speed</a:t>
                      </a:r>
                    </a:p>
                  </a:txBody>
                  <a:tcPr marL="76200" marR="76200" marT="50800" marB="50800">
                    <a:solidFill>
                      <a:srgbClr val="D4A85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300" b="1">
                          <a:solidFill>
                            <a:srgbClr val="0A0A14"/>
                          </a:solidFill>
                          <a:latin typeface="Inter"/>
                        </a:defRPr>
                      </a:pPr>
                      <a:r>
                        <a:t>Best For</a:t>
                      </a:r>
                    </a:p>
                  </a:txBody>
                  <a:tcPr marL="76200" marR="76200" marT="50800" marB="50800">
                    <a:solidFill>
                      <a:srgbClr val="D4A85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300" b="1">
                          <a:solidFill>
                            <a:srgbClr val="0A0A14"/>
                          </a:solidFill>
                          <a:latin typeface="Inter"/>
                        </a:defRPr>
                      </a:pPr>
                      <a:r>
                        <a:t>Integrations</a:t>
                      </a:r>
                    </a:p>
                  </a:txBody>
                  <a:tcPr marL="76200" marR="76200" marT="50800" marB="50800">
                    <a:solidFill>
                      <a:srgbClr val="D4A853"/>
                    </a:solidFill>
                  </a:tcPr>
                </a:tc>
              </a:tr>
              <a:tr h="841248">
                <a:tc>
                  <a:txBody>
                    <a:bodyPr wrap="square"/>
                    <a:lstStyle/>
                    <a:p>
                      <a:pPr algn="l">
                        <a:defRPr sz="1200">
                          <a:solidFill>
                            <a:srgbClr val="F5F5F5"/>
                          </a:solidFill>
                          <a:latin typeface="Inter"/>
                        </a:defRPr>
                      </a:pPr>
                      <a:r>
                        <a:t>EvenUp</a:t>
                      </a:r>
                    </a:p>
                  </a:txBody>
                  <a:tcPr marL="76200" marR="76200" marT="50800" marB="50800">
                    <a:solidFill>
                      <a:srgbClr val="1212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>
                          <a:solidFill>
                            <a:srgbClr val="F5F5F5"/>
                          </a:solidFill>
                          <a:latin typeface="Inter"/>
                        </a:defRPr>
                      </a:pPr>
                      <a:r>
                        <a:t>~$4M/yr enterprise;
custom for smaller</a:t>
                      </a:r>
                    </a:p>
                  </a:txBody>
                  <a:tcPr marL="76200" marR="76200" marT="50800" marB="50800">
                    <a:solidFill>
                      <a:srgbClr val="1212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>
                          <a:solidFill>
                            <a:srgbClr val="F5F5F5"/>
                          </a:solidFill>
                          <a:latin typeface="Inter"/>
                        </a:defRPr>
                      </a:pPr>
                      <a:r>
                        <a:t>&lt; 1 hr/letter</a:t>
                      </a:r>
                    </a:p>
                  </a:txBody>
                  <a:tcPr marL="76200" marR="76200" marT="50800" marB="50800">
                    <a:solidFill>
                      <a:srgbClr val="1212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>
                          <a:solidFill>
                            <a:srgbClr val="F5F5F5"/>
                          </a:solidFill>
                          <a:latin typeface="Inter"/>
                        </a:defRPr>
                      </a:pPr>
                      <a:r>
                        <a:t>Mass tort +
high-volume PI</a:t>
                      </a:r>
                    </a:p>
                  </a:txBody>
                  <a:tcPr marL="76200" marR="76200" marT="50800" marB="50800">
                    <a:solidFill>
                      <a:srgbClr val="1212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>
                          <a:solidFill>
                            <a:srgbClr val="F5F5F5"/>
                          </a:solidFill>
                          <a:latin typeface="Inter"/>
                        </a:defRPr>
                      </a:pPr>
                      <a:r>
                        <a:t>Filevine, CloudLex,
Litify</a:t>
                      </a:r>
                    </a:p>
                  </a:txBody>
                  <a:tcPr marL="76200" marR="76200" marT="50800" marB="50800">
                    <a:solidFill>
                      <a:srgbClr val="121224"/>
                    </a:solidFill>
                  </a:tcPr>
                </a:tc>
              </a:tr>
              <a:tr h="841248">
                <a:tc>
                  <a:txBody>
                    <a:bodyPr wrap="square"/>
                    <a:lstStyle/>
                    <a:p>
                      <a:pPr algn="l">
                        <a:defRPr sz="1200">
                          <a:solidFill>
                            <a:srgbClr val="F5F5F5"/>
                          </a:solidFill>
                          <a:latin typeface="Inter"/>
                        </a:defRPr>
                      </a:pPr>
                      <a:r>
                        <a:t>Tavrn</a:t>
                      </a:r>
                    </a:p>
                  </a:txBody>
                  <a:tcPr marL="76200" marR="76200" marT="50800" marB="50800">
                    <a:solidFill>
                      <a:srgbClr val="16162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>
                          <a:solidFill>
                            <a:srgbClr val="F5F5F5"/>
                          </a:solidFill>
                          <a:latin typeface="Inter"/>
                        </a:defRPr>
                      </a:pPr>
                      <a:r>
                        <a:t>$299/mo entry</a:t>
                      </a:r>
                    </a:p>
                  </a:txBody>
                  <a:tcPr marL="76200" marR="76200" marT="50800" marB="50800">
                    <a:solidFill>
                      <a:srgbClr val="16162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>
                          <a:solidFill>
                            <a:srgbClr val="F5F5F5"/>
                          </a:solidFill>
                          <a:latin typeface="Inter"/>
                        </a:defRPr>
                      </a:pPr>
                      <a:r>
                        <a:t>45 min/letter</a:t>
                      </a:r>
                    </a:p>
                  </a:txBody>
                  <a:tcPr marL="76200" marR="76200" marT="50800" marB="50800">
                    <a:solidFill>
                      <a:srgbClr val="16162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>
                          <a:solidFill>
                            <a:srgbClr val="F5F5F5"/>
                          </a:solidFill>
                          <a:latin typeface="Inter"/>
                        </a:defRPr>
                      </a:pPr>
                      <a:r>
                        <a:t>Small-to-mid PI
(10-25 attorneys)</a:t>
                      </a:r>
                    </a:p>
                  </a:txBody>
                  <a:tcPr marL="76200" marR="76200" marT="50800" marB="50800">
                    <a:solidFill>
                      <a:srgbClr val="16162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>
                          <a:solidFill>
                            <a:srgbClr val="F5F5F5"/>
                          </a:solidFill>
                          <a:latin typeface="Inter"/>
                        </a:defRPr>
                      </a:pPr>
                      <a:r>
                        <a:t>Clio, CasePeer</a:t>
                      </a:r>
                    </a:p>
                  </a:txBody>
                  <a:tcPr marL="76200" marR="76200" marT="50800" marB="50800">
                    <a:solidFill>
                      <a:srgbClr val="161628"/>
                    </a:solidFill>
                  </a:tcPr>
                </a:tc>
              </a:tr>
              <a:tr h="841248">
                <a:tc>
                  <a:txBody>
                    <a:bodyPr wrap="square"/>
                    <a:lstStyle/>
                    <a:p>
                      <a:pPr algn="l">
                        <a:defRPr sz="1200">
                          <a:solidFill>
                            <a:srgbClr val="F5F5F5"/>
                          </a:solidFill>
                          <a:latin typeface="Inter"/>
                        </a:defRPr>
                      </a:pPr>
                      <a:r>
                        <a:t>Filevine DemandsAI</a:t>
                      </a:r>
                    </a:p>
                  </a:txBody>
                  <a:tcPr marL="76200" marR="76200" marT="50800" marB="50800">
                    <a:solidFill>
                      <a:srgbClr val="1212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>
                          <a:solidFill>
                            <a:srgbClr val="F5F5F5"/>
                          </a:solidFill>
                          <a:latin typeface="Inter"/>
                        </a:defRPr>
                      </a:pPr>
                      <a:r>
                        <a:t>Built into Filevine
(~$75/user/mo)</a:t>
                      </a:r>
                    </a:p>
                  </a:txBody>
                  <a:tcPr marL="76200" marR="76200" marT="50800" marB="50800">
                    <a:solidFill>
                      <a:srgbClr val="1212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>
                          <a:solidFill>
                            <a:srgbClr val="F5F5F5"/>
                          </a:solidFill>
                          <a:latin typeface="Inter"/>
                        </a:defRPr>
                      </a:pPr>
                      <a:r>
                        <a:t>1-2 hrs/letter</a:t>
                      </a:r>
                    </a:p>
                  </a:txBody>
                  <a:tcPr marL="76200" marR="76200" marT="50800" marB="50800">
                    <a:solidFill>
                      <a:srgbClr val="1212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>
                          <a:solidFill>
                            <a:srgbClr val="F5F5F5"/>
                          </a:solidFill>
                          <a:latin typeface="Inter"/>
                        </a:defRPr>
                      </a:pPr>
                      <a:r>
                        <a:t>Firms already
on Filevine</a:t>
                      </a:r>
                    </a:p>
                  </a:txBody>
                  <a:tcPr marL="76200" marR="76200" marT="50800" marB="50800">
                    <a:solidFill>
                      <a:srgbClr val="1212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>
                          <a:solidFill>
                            <a:srgbClr val="F5F5F5"/>
                          </a:solidFill>
                          <a:latin typeface="Inter"/>
                        </a:defRPr>
                      </a:pPr>
                      <a:r>
                        <a:t>Native Filevine</a:t>
                      </a:r>
                    </a:p>
                  </a:txBody>
                  <a:tcPr marL="76200" marR="76200" marT="50800" marB="50800">
                    <a:solidFill>
                      <a:srgbClr val="121224"/>
                    </a:solidFill>
                  </a:tcPr>
                </a:tc>
              </a:tr>
              <a:tr h="841248">
                <a:tc>
                  <a:txBody>
                    <a:bodyPr wrap="square"/>
                    <a:lstStyle/>
                    <a:p>
                      <a:pPr algn="l">
                        <a:defRPr sz="1200">
                          <a:solidFill>
                            <a:srgbClr val="F5F5F5"/>
                          </a:solidFill>
                          <a:latin typeface="Inter"/>
                        </a:defRPr>
                      </a:pPr>
                      <a:r>
                        <a:t>Supio</a:t>
                      </a:r>
                    </a:p>
                  </a:txBody>
                  <a:tcPr marL="76200" marR="76200" marT="50800" marB="50800">
                    <a:solidFill>
                      <a:srgbClr val="16162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>
                          <a:solidFill>
                            <a:srgbClr val="F5F5F5"/>
                          </a:solidFill>
                          <a:latin typeface="Inter"/>
                        </a:defRPr>
                      </a:pPr>
                      <a:r>
                        <a:t>$1,500–$3,500/mo</a:t>
                      </a:r>
                    </a:p>
                  </a:txBody>
                  <a:tcPr marL="76200" marR="76200" marT="50800" marB="50800">
                    <a:solidFill>
                      <a:srgbClr val="16162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>
                          <a:solidFill>
                            <a:srgbClr val="F5F5F5"/>
                          </a:solidFill>
                          <a:latin typeface="Inter"/>
                        </a:defRPr>
                      </a:pPr>
                      <a:r>
                        <a:t>&lt; 2 hrs/letter</a:t>
                      </a:r>
                    </a:p>
                  </a:txBody>
                  <a:tcPr marL="76200" marR="76200" marT="50800" marB="50800">
                    <a:solidFill>
                      <a:srgbClr val="16162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>
                          <a:solidFill>
                            <a:srgbClr val="F5F5F5"/>
                          </a:solidFill>
                          <a:latin typeface="Inter"/>
                        </a:defRPr>
                      </a:pPr>
                      <a:r>
                        <a:t>Mid-size firms
wanting config</a:t>
                      </a:r>
                    </a:p>
                  </a:txBody>
                  <a:tcPr marL="76200" marR="76200" marT="50800" marB="50800">
                    <a:solidFill>
                      <a:srgbClr val="16162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>
                          <a:solidFill>
                            <a:srgbClr val="F5F5F5"/>
                          </a:solidFill>
                          <a:latin typeface="Inter"/>
                        </a:defRPr>
                      </a:pPr>
                      <a:r>
                        <a:t>Most major CMS</a:t>
                      </a:r>
                    </a:p>
                  </a:txBody>
                  <a:tcPr marL="76200" marR="76200" marT="50800" marB="50800">
                    <a:solidFill>
                      <a:srgbClr val="16162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608076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B8B8C8"/>
                </a:solidFill>
                <a:latin typeface="Inter"/>
              </a:defRPr>
            </a:pPr>
            <a:r>
              <a:t>EvenUp: 10,000 cases/week, $10B+ damages secured (Fortune 2026)  |  Harvard 2025: 16-hr task → 3-4 min with AI (100x)  |  Industry baseline: 5-15 hrs/letter (ProPlaintiff 2026)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46520"/>
            <a:ext cx="10728655" cy="25603"/>
          </a:xfrm>
          <a:prstGeom prst="rect">
            <a:avLst/>
          </a:prstGeom>
          <a:solidFill>
            <a:srgbClr val="D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9224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B8B8C8"/>
                </a:solidFill>
                <a:latin typeface="Inter"/>
              </a:defRPr>
            </a:pPr>
            <a:r>
              <a:t>theinnovativenative.com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143000"/>
            <a:ext cx="10728655" cy="25603"/>
          </a:xfrm>
          <a:prstGeom prst="rect">
            <a:avLst/>
          </a:prstGeom>
          <a:solidFill>
            <a:srgbClr val="D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2865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D4A853"/>
                </a:solidFill>
                <a:latin typeface="Playfair Display"/>
              </a:defRPr>
            </a:pPr>
            <a:r>
              <a:t>ROI Calculator: Your Firm's Real Numbers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874519"/>
            <a:ext cx="3200400" cy="16459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1965960"/>
            <a:ext cx="298094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D4A853"/>
                </a:solidFill>
                <a:latin typeface="Inter"/>
              </a:defRPr>
            </a:pPr>
            <a:r>
              <a:t>Step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2258568"/>
            <a:ext cx="298094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0BCD4"/>
                </a:solidFill>
                <a:latin typeface="Playfair Display"/>
              </a:defRPr>
            </a:pPr>
            <a:r>
              <a:t>BASELINE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2743200"/>
            <a:ext cx="2980944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B8B8C8"/>
                </a:solidFill>
                <a:latin typeface="Inter"/>
              </a:defRPr>
            </a:pPr>
            <a:r>
              <a:t>Cases/mo × Hrs/letter × $/hr
= Monthly manual cost</a:t>
            </a:r>
          </a:p>
        </p:txBody>
      </p:sp>
      <p:sp>
        <p:nvSpPr>
          <p:cNvPr id="8" name="Rectangle 7"/>
          <p:cNvSpPr/>
          <p:nvPr/>
        </p:nvSpPr>
        <p:spPr>
          <a:xfrm>
            <a:off x="4151376" y="1874519"/>
            <a:ext cx="3200400" cy="16459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61104" y="1965960"/>
            <a:ext cx="298094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D4A853"/>
                </a:solidFill>
                <a:latin typeface="Inter"/>
              </a:defRPr>
            </a:pPr>
            <a:r>
              <a:t>Step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61104" y="2258568"/>
            <a:ext cx="298094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0BCD4"/>
                </a:solidFill>
                <a:latin typeface="Playfair Display"/>
              </a:defRPr>
            </a:pPr>
            <a:r>
              <a:t>WITH 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1104" y="2743200"/>
            <a:ext cx="2980944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B8B8C8"/>
                </a:solidFill>
                <a:latin typeface="Inter"/>
              </a:defRPr>
            </a:pPr>
            <a:r>
              <a:t>Tool cost + Review hrs × $/hr
= Monthly AI cost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71232" y="1874519"/>
            <a:ext cx="3200400" cy="16459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0" y="1965960"/>
            <a:ext cx="298094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D4A853"/>
                </a:solidFill>
                <a:latin typeface="Inter"/>
              </a:defRPr>
            </a:pPr>
            <a:r>
              <a:t>Step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0" y="2258568"/>
            <a:ext cx="298094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0BCD4"/>
                </a:solidFill>
                <a:latin typeface="Playfair Display"/>
              </a:defRPr>
            </a:pPr>
            <a:r>
              <a:t>SAVINGS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0" y="2743200"/>
            <a:ext cx="2980944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B8B8C8"/>
                </a:solidFill>
                <a:latin typeface="Inter"/>
              </a:defRPr>
            </a:pPr>
            <a:r>
              <a:t>Manual cost − AI cost
= Monthly savings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68496" y="2514599"/>
            <a:ext cx="18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D4A853"/>
                </a:solidFill>
                <a:latin typeface="Inter"/>
              </a:defRPr>
            </a:pPr>
            <a: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88352" y="2514599"/>
            <a:ext cx="18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D4A853"/>
                </a:solidFill>
                <a:latin typeface="Inter"/>
              </a:defRPr>
            </a:pPr>
            <a: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3703320"/>
            <a:ext cx="10728655" cy="21945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" y="3703320"/>
            <a:ext cx="10728655" cy="27432"/>
          </a:xfrm>
          <a:prstGeom prst="rect">
            <a:avLst/>
          </a:prstGeom>
          <a:solidFill>
            <a:srgbClr val="D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3749039"/>
            <a:ext cx="10180015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4A853"/>
                </a:solidFill>
                <a:latin typeface="Inter"/>
              </a:defRPr>
            </a:pPr>
            <a:r>
              <a:t>WORKED EXAMPLE — 25-attorney PI firm</a:t>
            </a:r>
          </a:p>
          <a:p>
            <a:pPr algn="l">
              <a:defRPr sz="1200">
                <a:solidFill>
                  <a:srgbClr val="B8B8C8"/>
                </a:solidFill>
                <a:latin typeface="Inter"/>
              </a:defRPr>
            </a:pPr>
            <a:r>
              <a:t>40 demand letters/mo · $30/hr paralegal · 10 hrs per letter</a:t>
            </a:r>
          </a:p>
          <a:p>
            <a:pPr algn="l">
              <a:defRPr sz="800">
                <a:solidFill>
                  <a:srgbClr val="B8B8C8"/>
                </a:solidFill>
                <a:latin typeface="Inter"/>
              </a:defRPr>
            </a:pPr>
            <a:r>
              <a:t/>
            </a:r>
          </a:p>
          <a:p>
            <a:pPr algn="l">
              <a:defRPr sz="1300">
                <a:solidFill>
                  <a:srgbClr val="F5F5F5"/>
                </a:solidFill>
                <a:latin typeface="Inter"/>
              </a:defRPr>
            </a:pPr>
            <a:r>
              <a:t>Manual:    40 × 10 × $30 = $12,000/mo  ($144,000/yr)</a:t>
            </a:r>
          </a:p>
          <a:p>
            <a:pPr algn="l">
              <a:defRPr sz="1300">
                <a:solidFill>
                  <a:srgbClr val="F5F5F5"/>
                </a:solidFill>
                <a:latin typeface="Inter"/>
              </a:defRPr>
            </a:pPr>
            <a:r>
              <a:t>With Tavrn: 40 × 1.5 × $30 + $299 = $2,099/mo  ($25,000/yr)</a:t>
            </a:r>
          </a:p>
          <a:p>
            <a:pPr algn="l">
              <a:defRPr sz="1400" b="1">
                <a:solidFill>
                  <a:srgbClr val="00BCD4"/>
                </a:solidFill>
                <a:latin typeface="Inter"/>
              </a:defRPr>
            </a:pPr>
            <a:r>
              <a:t>Savings:   $9,901/mo · $119,000/yr · Break-even: &lt; 1 letter</a:t>
            </a:r>
          </a:p>
          <a:p>
            <a:pPr algn="l">
              <a:defRPr sz="800">
                <a:solidFill>
                  <a:srgbClr val="B8B8C8"/>
                </a:solidFill>
                <a:latin typeface="Inter"/>
              </a:defRPr>
            </a:pPr>
            <a:r>
              <a:t/>
            </a:r>
          </a:p>
          <a:p>
            <a:pPr algn="l">
              <a:defRPr sz="1200">
                <a:solidFill>
                  <a:srgbClr val="B8B8C8"/>
                </a:solidFill>
                <a:latin typeface="Inter"/>
              </a:defRPr>
            </a:pPr>
            <a:r>
              <a:t>"The easiest business-case math most PI firms will ever run."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6446520"/>
            <a:ext cx="10728655" cy="25603"/>
          </a:xfrm>
          <a:prstGeom prst="rect">
            <a:avLst/>
          </a:prstGeom>
          <a:solidFill>
            <a:srgbClr val="D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649224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B8B8C8"/>
                </a:solidFill>
                <a:latin typeface="Inter"/>
              </a:defRPr>
            </a:pPr>
            <a:r>
              <a:t>theinnovativenative.com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143000"/>
            <a:ext cx="10728655" cy="25603"/>
          </a:xfrm>
          <a:prstGeom prst="rect">
            <a:avLst/>
          </a:prstGeom>
          <a:solidFill>
            <a:srgbClr val="D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2865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D4A853"/>
                </a:solidFill>
                <a:latin typeface="Playfair Display"/>
              </a:defRPr>
            </a:pPr>
            <a:r>
              <a:t>5 Red Flags in Every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B8B8C8"/>
                </a:solidFill>
                <a:latin typeface="Inter"/>
              </a:defRPr>
            </a:pPr>
            <a:r>
              <a:t>When you sit through a sales pitch — if the vendor dodges any of these, walk.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240280"/>
            <a:ext cx="384048" cy="749808"/>
          </a:xfrm>
          <a:prstGeom prst="rect">
            <a:avLst/>
          </a:prstGeom>
          <a:solidFill>
            <a:srgbClr val="D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377440"/>
            <a:ext cx="3840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A0A14"/>
                </a:solidFill>
                <a:latin typeface="Playfair Display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2276856"/>
            <a:ext cx="10225735" cy="713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D4A853"/>
                </a:solidFill>
                <a:latin typeface="Inter"/>
              </a:defRPr>
            </a:pPr>
            <a:r>
              <a:t>"Can you show me a live generation on a case I brought?"</a:t>
            </a:r>
          </a:p>
          <a:p>
            <a:pPr>
              <a:defRPr sz="1200">
                <a:solidFill>
                  <a:srgbClr val="B8B8C8"/>
                </a:solidFill>
                <a:latin typeface="Inter"/>
              </a:defRPr>
            </a:pPr>
            <a:r>
              <a:t>If they want to use their canned demo, they are hiding output quality. A real tool runs on real records in real time.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044952"/>
            <a:ext cx="384048" cy="749808"/>
          </a:xfrm>
          <a:prstGeom prst="rect">
            <a:avLst/>
          </a:prstGeom>
          <a:solidFill>
            <a:srgbClr val="D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182112"/>
            <a:ext cx="3840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A0A14"/>
                </a:solidFill>
                <a:latin typeface="Playfair Display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3081528"/>
            <a:ext cx="10225735" cy="713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D4A853"/>
                </a:solidFill>
                <a:latin typeface="Inter"/>
              </a:defRPr>
            </a:pPr>
            <a:r>
              <a:t>"Who owns the data after it enters your system?"</a:t>
            </a:r>
          </a:p>
          <a:p>
            <a:pPr>
              <a:defRPr sz="1200">
                <a:solidFill>
                  <a:srgbClr val="B8B8C8"/>
                </a:solidFill>
                <a:latin typeface="Inter"/>
              </a:defRPr>
            </a:pPr>
            <a:r>
              <a:t>If the answer is "we retain it for training," your privileged info just left your firm. Hard no after Heppner.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849624"/>
            <a:ext cx="384048" cy="749808"/>
          </a:xfrm>
          <a:prstGeom prst="rect">
            <a:avLst/>
          </a:prstGeom>
          <a:solidFill>
            <a:srgbClr val="D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986784"/>
            <a:ext cx="3840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A0A14"/>
                </a:solidFill>
                <a:latin typeface="Playfair Display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886200"/>
            <a:ext cx="10225735" cy="713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D4A853"/>
                </a:solidFill>
                <a:latin typeface="Inter"/>
              </a:defRPr>
            </a:pPr>
            <a:r>
              <a:t>"What is your hallucination rate on citations?"</a:t>
            </a:r>
          </a:p>
          <a:p>
            <a:pPr>
              <a:defRPr sz="1200">
                <a:solidFill>
                  <a:srgbClr val="B8B8C8"/>
                </a:solidFill>
                <a:latin typeface="Inter"/>
              </a:defRPr>
            </a:pPr>
            <a:r>
              <a:t>Published benchmarks or walk. "Very low" is not a number.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4654296"/>
            <a:ext cx="384048" cy="749808"/>
          </a:xfrm>
          <a:prstGeom prst="rect">
            <a:avLst/>
          </a:prstGeom>
          <a:solidFill>
            <a:srgbClr val="D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791456"/>
            <a:ext cx="3840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A0A14"/>
                </a:solidFill>
                <a:latin typeface="Playfair Display"/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4690872"/>
            <a:ext cx="10225735" cy="713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D4A853"/>
                </a:solidFill>
                <a:latin typeface="Inter"/>
              </a:defRPr>
            </a:pPr>
            <a:r>
              <a:t>"Show me the paralegal review workflow."</a:t>
            </a:r>
          </a:p>
          <a:p>
            <a:pPr>
              <a:defRPr sz="1200">
                <a:solidFill>
                  <a:srgbClr val="B8B8C8"/>
                </a:solidFill>
                <a:latin typeface="Inter"/>
              </a:defRPr>
            </a:pPr>
            <a:r>
              <a:t>The right answer: AI drafts, paralegal verifies, attorney signs. Anything else is pre-Heppner thinking.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5458968"/>
            <a:ext cx="384048" cy="749808"/>
          </a:xfrm>
          <a:prstGeom prst="rect">
            <a:avLst/>
          </a:prstGeom>
          <a:solidFill>
            <a:srgbClr val="D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5596128"/>
            <a:ext cx="3840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A0A14"/>
                </a:solidFill>
                <a:latin typeface="Playfair Display"/>
              </a:defRPr>
            </a:pPr>
            <a: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5495544"/>
            <a:ext cx="10225735" cy="713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D4A853"/>
                </a:solidFill>
                <a:latin typeface="Inter"/>
              </a:defRPr>
            </a:pPr>
            <a:r>
              <a:t>"What integrations do you have with my CMS?"</a:t>
            </a:r>
          </a:p>
          <a:p>
            <a:pPr>
              <a:defRPr sz="1200">
                <a:solidFill>
                  <a:srgbClr val="B8B8C8"/>
                </a:solidFill>
                <a:latin typeface="Inter"/>
              </a:defRPr>
            </a:pPr>
            <a:r>
              <a:t>Filevine, Clio, CasePeer, SmartAdvocate, CloudLex. If your CMS isn't on their list, the rollout will sink.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6446520"/>
            <a:ext cx="10728655" cy="25603"/>
          </a:xfrm>
          <a:prstGeom prst="rect">
            <a:avLst/>
          </a:prstGeom>
          <a:solidFill>
            <a:srgbClr val="D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649224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B8B8C8"/>
                </a:solidFill>
                <a:latin typeface="Inter"/>
              </a:defRPr>
            </a:pPr>
            <a:r>
              <a:t>theinnovativenative.com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143000"/>
            <a:ext cx="10728655" cy="25603"/>
          </a:xfrm>
          <a:prstGeom prst="rect">
            <a:avLst/>
          </a:prstGeom>
          <a:solidFill>
            <a:srgbClr val="D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2865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D4A853"/>
                </a:solidFill>
                <a:latin typeface="Playfair Display"/>
              </a:defRPr>
            </a:pPr>
            <a:r>
              <a:t>Monday Morning. 3 Actions.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B8B8C8"/>
                </a:solidFill>
                <a:latin typeface="Inter"/>
              </a:defRPr>
            </a:pPr>
            <a:r>
              <a:t>Three things you can do before lunch on the first work day after reading this: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286000"/>
            <a:ext cx="457200" cy="1188720"/>
          </a:xfrm>
          <a:prstGeom prst="rect">
            <a:avLst/>
          </a:prstGeom>
          <a:solidFill>
            <a:srgbClr val="D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0A0A14"/>
                </a:solidFill>
                <a:latin typeface="Playfair Display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2377440"/>
            <a:ext cx="10134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D4A853"/>
                </a:solidFill>
                <a:latin typeface="Inter"/>
              </a:defRPr>
            </a:pPr>
            <a:r>
              <a:t>Time your current process.</a:t>
            </a:r>
          </a:p>
          <a:p>
            <a:pPr>
              <a:defRPr sz="1300">
                <a:solidFill>
                  <a:srgbClr val="F5F5F5"/>
                </a:solidFill>
                <a:latin typeface="Inter"/>
              </a:defRPr>
            </a:pPr>
            <a:r>
              <a:t>Email your paralegal. Ask them to track hours on the next three demand letters. Don't tell them why. Get the real number, not the estimate.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639312"/>
            <a:ext cx="457200" cy="1188720"/>
          </a:xfrm>
          <a:prstGeom prst="rect">
            <a:avLst/>
          </a:prstGeom>
          <a:solidFill>
            <a:srgbClr val="D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913632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0A0A14"/>
                </a:solidFill>
                <a:latin typeface="Playfair Display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3730752"/>
            <a:ext cx="10134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D4A853"/>
                </a:solidFill>
                <a:latin typeface="Inter"/>
              </a:defRPr>
            </a:pPr>
            <a:r>
              <a:t>Pull your last 10 closed case files.</a:t>
            </a:r>
          </a:p>
          <a:p>
            <a:pPr>
              <a:defRPr sz="1300">
                <a:solidFill>
                  <a:srgbClr val="F5F5F5"/>
                </a:solidFill>
                <a:latin typeface="Inter"/>
              </a:defRPr>
            </a:pPr>
            <a:r>
              <a:t>Count how many demand letters were involved. Calculate actual labor hours at your paralegal rate. That is your monthly demand letter cost, minimum.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4992624"/>
            <a:ext cx="457200" cy="1188720"/>
          </a:xfrm>
          <a:prstGeom prst="rect">
            <a:avLst/>
          </a:prstGeom>
          <a:solidFill>
            <a:srgbClr val="D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5266944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0A0A14"/>
                </a:solidFill>
                <a:latin typeface="Playfair Display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5084064"/>
            <a:ext cx="10134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D4A853"/>
                </a:solidFill>
                <a:latin typeface="Inter"/>
              </a:defRPr>
            </a:pPr>
            <a:r>
              <a:t>Book a 30-minute Tavrn demo.</a:t>
            </a:r>
          </a:p>
          <a:p>
            <a:pPr>
              <a:defRPr sz="1300">
                <a:solidFill>
                  <a:srgbClr val="F5F5F5"/>
                </a:solidFill>
                <a:latin typeface="Inter"/>
              </a:defRPr>
            </a:pPr>
            <a:r>
              <a:t>$299/mo is cheap enough that you don't need your CFO to sign off. Walk through one live generation on a de-identified case file. Decide by Friday.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5897880"/>
            <a:ext cx="10728655" cy="4114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916168"/>
            <a:ext cx="10362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00BCD4"/>
                </a:solidFill>
                <a:latin typeface="Inter"/>
              </a:defRPr>
            </a:pPr>
            <a:r>
              <a:t>buildmytribe.ai/demand  |  theinnovativenative.com/resources/demand-letter-matrix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635508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B8B8C8"/>
                </a:solidFill>
                <a:latin typeface="Inter"/>
              </a:defRPr>
            </a:pPr>
            <a:r>
              <a:t>Sources: EvenUp Series E (Fortune 2026)  |  Harvard Law / MIT Sloan 2025  |  ProPlaintiff 2026  |  Tavrn, Filevine, Supio product specs 2026  |  Mike Soto, The Innovative Native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6446520"/>
            <a:ext cx="10728655" cy="25603"/>
          </a:xfrm>
          <a:prstGeom prst="rect">
            <a:avLst/>
          </a:prstGeom>
          <a:solidFill>
            <a:srgbClr val="D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649224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B8B8C8"/>
                </a:solidFill>
                <a:latin typeface="Inter"/>
              </a:defRPr>
            </a:pPr>
            <a:r>
              <a:t>theinnovativenative.com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