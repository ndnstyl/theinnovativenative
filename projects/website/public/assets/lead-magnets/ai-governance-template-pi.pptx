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23790" y="1828800"/>
            <a:ext cx="27432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200" b="1">
                <a:solidFill>
                  <a:srgbClr val="D4A853"/>
                </a:solidFill>
                <a:latin typeface="Playfair Display"/>
              </a:defRPr>
            </a:pPr>
            <a:r>
              <a:t>AI Governance Policy Template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defRPr sz="2000" b="0">
                <a:solidFill>
                  <a:srgbClr val="B8B8C8"/>
                </a:solidFill>
                <a:latin typeface="Inter"/>
              </a:defRPr>
            </a:pPr>
            <a:r>
              <a:t>For Personal Injury &amp; Mass Tort Firms</a:t>
            </a:r>
          </a:p>
          <a:p>
            <a:pPr algn="ctr">
              <a:spcBef>
                <a:spcPts val="800"/>
              </a:spcBef>
              <a:spcAft>
                <a:spcPts val="600"/>
              </a:spcAft>
              <a:defRPr sz="1600" b="0">
                <a:solidFill>
                  <a:srgbClr val="B8B8C8"/>
                </a:solidFill>
                <a:latin typeface="Inter"/>
              </a:defRPr>
            </a:pPr>
            <a:r>
              <a:t>Compliant with ABA Opinion 512 &amp; US v. Heppner  |  March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Why You Need This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029200" cy="36576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CF4939"/>
                </a:solidFill>
                <a:latin typeface="Playfair Display"/>
              </a:defRPr>
            </a:pPr>
            <a:r>
              <a:t>US v. Heppner (Feb 2026)</a:t>
            </a:r>
          </a:p>
          <a:p>
            <a:pPr algn="l">
              <a:spcBef>
                <a:spcPts val="800"/>
              </a:spcBef>
              <a:spcAft>
                <a:spcPts val="600"/>
              </a:spcAft>
              <a:defRPr sz="1600" b="0">
                <a:solidFill>
                  <a:srgbClr val="F5F5F5"/>
                </a:solidFill>
                <a:latin typeface="Inter"/>
              </a:defRPr>
            </a:pPr>
            <a:r>
              <a:t>Consumer AI tools waive attorney-client privilege. Any client data in ChatGPT, Claude, or Gemini may lose protection.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00BCD4"/>
                </a:solidFill>
                <a:latin typeface="Inter"/>
              </a:defRPr>
            </a:pPr>
            <a:r>
              <a:t>43% of firms have ZERO AI policy.</a:t>
            </a:r>
          </a:p>
          <a:p>
            <a:pPr algn="l">
              <a:spcBef>
                <a:spcPts val="800"/>
              </a:spcBef>
              <a:spcAft>
                <a:spcPts val="600"/>
              </a:spcAft>
              <a:defRPr sz="1800" b="1">
                <a:solidFill>
                  <a:srgbClr val="00BCD4"/>
                </a:solidFill>
                <a:latin typeface="Inter"/>
              </a:defRPr>
            </a:pPr>
            <a:r>
              <a:t>729+ attorneys sanctioned for AI misuse.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25880"/>
            <a:ext cx="5059375" cy="36576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63040"/>
            <a:ext cx="451073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D4A853"/>
                </a:solidFill>
                <a:latin typeface="Playfair Display"/>
              </a:defRPr>
            </a:pPr>
            <a:r>
              <a:t>ABA Formal Opinion 512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0">
                <a:solidFill>
                  <a:srgbClr val="F5F5F5"/>
                </a:solidFill>
                <a:latin typeface="Inter"/>
              </a:defRPr>
            </a:pPr>
            <a:r>
              <a:t>•  Rule 1.1: Duty of competence with AI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0">
                <a:solidFill>
                  <a:srgbClr val="F5F5F5"/>
                </a:solidFill>
                <a:latin typeface="Inter"/>
              </a:defRPr>
            </a:pPr>
            <a:r>
              <a:t>•  Rule 1.6: Confidentiality safeguards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0">
                <a:solidFill>
                  <a:srgbClr val="F5F5F5"/>
                </a:solidFill>
                <a:latin typeface="Inter"/>
              </a:defRPr>
            </a:pPr>
            <a:r>
              <a:t>•  Rule 5.3: Supervision of AI systems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0">
                <a:solidFill>
                  <a:srgbClr val="F5F5F5"/>
                </a:solidFill>
                <a:latin typeface="Inter"/>
              </a:defRPr>
            </a:pPr>
            <a:r>
              <a:t>•  Independent verification required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0">
                <a:solidFill>
                  <a:srgbClr val="F5F5F5"/>
                </a:solidFill>
                <a:latin typeface="Inter"/>
              </a:defRPr>
            </a:pPr>
            <a:r>
              <a:t>•  Informed client consent for AI 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Scope &amp; Definitions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F5F5F5"/>
                </a:solidFill>
                <a:latin typeface="Inter"/>
              </a:defRPr>
            </a:pPr>
            <a:r>
              <a:t>This policy applies to ALL staff: attorneys, paralegals, assistants, contract workers, and any third-party vendors who access firm systems or client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D4A853"/>
                </a:solidFill>
                <a:latin typeface="Inter"/>
              </a:defRPr>
            </a:pPr>
            <a:r>
              <a:t>Approved AI Tool:  </a:t>
            </a:r>
            <a:r>
              <a:rPr sz="1600" b="0">
                <a:solidFill>
                  <a:srgbClr val="F5F5F5"/>
                </a:solidFill>
                <a:latin typeface="Inter"/>
              </a:rPr>
              <a:t>Vetted, authorized, on the firm’s Approved Tools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D4A853"/>
                </a:solidFill>
                <a:latin typeface="Inter"/>
              </a:defRPr>
            </a:pPr>
            <a:r>
              <a:t>Consumer AI Tool:  </a:t>
            </a:r>
            <a:r>
              <a:rPr sz="1600" b="0">
                <a:solidFill>
                  <a:srgbClr val="F5F5F5"/>
                </a:solidFill>
                <a:latin typeface="Inter"/>
              </a:rPr>
              <a:t>General-purpose AI (ChatGPT, Gemini, Perplexity) — elevated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D4A853"/>
                </a:solidFill>
                <a:latin typeface="Inter"/>
              </a:defRPr>
            </a:pPr>
            <a:r>
              <a:t>Legal AI Tool:  </a:t>
            </a:r>
            <a:r>
              <a:rPr sz="1600" b="0">
                <a:solidFill>
                  <a:srgbClr val="F5F5F5"/>
                </a:solidFill>
                <a:latin typeface="Inter"/>
              </a:rPr>
              <a:t>Purpose-built for legal workflows, enterprise security, SOC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D4A853"/>
                </a:solidFill>
                <a:latin typeface="Inter"/>
              </a:defRPr>
            </a:pPr>
            <a:r>
              <a:t>Protected Information:  </a:t>
            </a:r>
            <a:r>
              <a:rPr sz="1600" b="0">
                <a:solidFill>
                  <a:srgbClr val="F5F5F5"/>
                </a:solidFill>
                <a:latin typeface="Inter"/>
              </a:rPr>
              <a:t>Privileged, work product, HIPAA, state privacy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D4A853"/>
                </a:solidFill>
                <a:latin typeface="Inter"/>
              </a:defRPr>
            </a:pPr>
            <a:r>
              <a:t>AI Output:  </a:t>
            </a:r>
            <a:r>
              <a:rPr sz="1600" b="0">
                <a:solidFill>
                  <a:srgbClr val="F5F5F5"/>
                </a:solidFill>
                <a:latin typeface="Inter"/>
              </a:rPr>
              <a:t>Any content generated in whole or in part by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D4A853"/>
                </a:solidFill>
                <a:latin typeface="Inter"/>
              </a:defRPr>
            </a:pPr>
            <a:r>
              <a:t>Human-in-the-Loop:  </a:t>
            </a:r>
            <a:r>
              <a:rPr sz="1600" b="0">
                <a:solidFill>
                  <a:srgbClr val="F5F5F5"/>
                </a:solidFill>
                <a:latin typeface="Inter"/>
              </a:rPr>
              <a:t>Licensed attorney review before any external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Approved vs. Prohibited Uses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365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defRPr sz="1400" b="1">
                <a:solidFill>
                  <a:srgbClr val="0A0A14"/>
                </a:solidFill>
                <a:latin typeface="Inter"/>
              </a:defRPr>
            </a:pPr>
            <a:r>
              <a:t>LOW RISK (Approved for All)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Legal research on non-confidential topics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Standard template drafting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Marketing content creation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Summarizing public court opinions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10728655" cy="36576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defRPr sz="1400" b="1">
                <a:solidFill>
                  <a:srgbClr val="0A0A14"/>
                </a:solidFill>
                <a:latin typeface="Inter"/>
              </a:defRPr>
            </a:pPr>
            <a:r>
              <a:t>MEDIUM RISK (Attorney Supervision Required)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Medical record summarization (HIPAA tools only)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Demand letter first drafts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Case valuation analysis (de-identified data)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Client communication drafts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77640"/>
            <a:ext cx="10728655" cy="365760"/>
          </a:xfrm>
          <a:prstGeom prst="rect">
            <a:avLst/>
          </a:prstGeom>
          <a:solidFill>
            <a:srgbClr val="CF4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>
              <a:defRPr sz="1400" b="1">
                <a:solidFill>
                  <a:srgbClr val="0A0A14"/>
                </a:solidFill>
                <a:latin typeface="Inter"/>
              </a:defRPr>
            </a:pPr>
            <a:r>
              <a:t>HIGH RISK (Managing Partner Approval)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AI-assisted case strategy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Settlement negotiation prep with AI valuations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Mass tort plaintiff inventory analysis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Any use involving privileged communications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Training &amp; Compliance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029200" cy="41148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D4A853"/>
                </a:solidFill>
                <a:latin typeface="Playfair Display"/>
              </a:defRPr>
            </a:pPr>
            <a:r>
              <a:t>Initial Training (All Staff)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•  AI Fundamentals (1 hour)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•  Ethics &amp; Privilege (1 hour)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•  Firm Policy Review (30 min)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•  Hands-On Tool Training (1-2 hrs/tool)</a:t>
            </a:r>
          </a:p>
          <a:p>
            <a:pPr algn="l"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D4A853"/>
                </a:solidFill>
                <a:latin typeface="Playfair Display"/>
              </a:defRPr>
            </a:pPr>
            <a:r>
              <a:t>Ongoing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•  Quarterly updates (30 min)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•  Annual recertification (2 hours)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•  New tool onboarding as added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25880"/>
            <a:ext cx="5059375" cy="41148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63040"/>
            <a:ext cx="45107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D4A853"/>
                </a:solidFill>
                <a:latin typeface="Playfair Display"/>
              </a:defRPr>
            </a:pPr>
            <a:r>
              <a:t>Quality Assurance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Citation Verification: Confirm every case exists, is accurate, not overruled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Hallucination Check: Verify facts, ICD codes, dollar figures, procedures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Review Chain: Generator → Paralegal → Attorney → Attorney of Record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Quarterly Metrics: Error rate, time savings, incidents, complaints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defRPr sz="1400" b="1">
                <a:solidFill>
                  <a:srgbClr val="CF4939"/>
                </a:solidFill>
                <a:latin typeface="Inter"/>
              </a:defRPr>
            </a:pPr>
            <a:r>
              <a:t>729+ attorneys sanctioned for AI-hallucinated citations. Your firm will not join that list.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Incident Response Procedures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B8B8C8"/>
                </a:solidFill>
                <a:latin typeface="Inter"/>
              </a:defRPr>
            </a:pPr>
            <a:r>
              <a:t>An AI incident = privileged data in wrong tool, unverified output used externally, data breach at vendor, or AI communication sent without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4114800" cy="34747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300" b="1">
                <a:solidFill>
                  <a:srgbClr val="0A0A14"/>
                </a:solidFill>
                <a:latin typeface="Inter"/>
              </a:defRPr>
            </a:pPr>
            <a:r>
              <a:t>IMMEDIATE (Within 1 Hour)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50008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Stop using the AI tool involved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Document what happened, what data, which tool, who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Report to AI Governance Committee Chair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Do not delete any records or logs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81528"/>
            <a:ext cx="4114800" cy="347472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300" b="1">
                <a:solidFill>
                  <a:srgbClr val="0A0A14"/>
                </a:solidFill>
                <a:latin typeface="Inter"/>
              </a:defRPr>
            </a:pPr>
            <a:r>
              <a:t>INVESTIGATION (Within 24 Hours)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65576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Assess scope: which clients, cases, data affected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Determine if privilege was waived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Determine if client / court / state bar notification 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97096"/>
            <a:ext cx="411480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300" b="1">
                <a:solidFill>
                  <a:srgbClr val="0A0A14"/>
                </a:solidFill>
                <a:latin typeface="Inter"/>
              </a:defRPr>
            </a:pPr>
            <a:r>
              <a:t>REMEDIATION (Within 72 Hours)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Request vendor data deletion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Notify affected clients if required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File corrective court filings if needed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F5F5F5"/>
                </a:solidFill>
                <a:latin typeface="Inter"/>
              </a:defRPr>
            </a:pPr>
            <a:r>
              <a:t>•  Update policy and conduct remedial 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Implementation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00BCD4"/>
                </a:solidFill>
                <a:latin typeface="Playfair Display"/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325880"/>
            <a:ext cx="8899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☐  Appoint AI Governance Committee (managing partner + ethics + IT + operations)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☐  Inventory all AI tools currently in use across the firm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☐  Classify each tool: HIGH / MEDIUM / LOWER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00BCD4"/>
                </a:solidFill>
                <a:latin typeface="Playfair Display"/>
              </a:defRPr>
            </a:pPr>
            <a:r>
              <a:t>Week 2-3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468880"/>
            <a:ext cx="8899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☐  Draft Approved Tools List based on risk classification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☐  Execute vendor agreements (SOC 2, BAA, DPA) for approved tools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☐  Create data anonymization procedures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00BCD4"/>
                </a:solidFill>
                <a:latin typeface="Playfair Display"/>
              </a:defRPr>
            </a:pPr>
            <a: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611880"/>
            <a:ext cx="8899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☐  Conduct initial training for all staff (4+ hours)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☐  Distribute policy with signature page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☐  Update engagement letter with AI disclosure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00BCD4"/>
                </a:solidFill>
                <a:latin typeface="Playfair Display"/>
              </a:defRPr>
            </a:pPr>
            <a:r>
              <a:t>Month 2+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754880"/>
            <a:ext cx="8899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☐  Begin quarterly review cycle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☐  Track quality metrics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F5F5F5"/>
                </a:solidFill>
                <a:latin typeface="Inter"/>
              </a:defRPr>
            </a:pPr>
            <a:r>
              <a:t>☐  Schedule annual recertification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00BCD4"/>
                </a:solidFill>
                <a:latin typeface="Playfair Display"/>
              </a:defRPr>
            </a:pPr>
            <a:r>
              <a:t>Download the Full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743200"/>
            <a:ext cx="7619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Complete 11-section AI Governance Policy (ready to adopt)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Customizable for your firm’s specific tools and practice areas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Compliant with ABA Opinion 512, Heppner, Texas 705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Includes signature page, quick reference card, PI/mass tort appendix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Request your copy: mike@theinnovativenative.com</a:t>
            </a:r>
          </a:p>
          <a:p>
            <a:pPr algn="l">
              <a:spcBef>
                <a:spcPts val="1600"/>
              </a:spcBef>
              <a:spcAft>
                <a:spcPts val="600"/>
              </a:spcAft>
              <a:defRPr sz="1600" b="0">
                <a:solidFill>
                  <a:srgbClr val="B8B8C8"/>
                </a:solidFill>
                <a:latin typeface="Inter"/>
              </a:defRPr>
            </a:pPr>
            <a:r>
              <a:t>The Innovative Native  |  theinnovativenative.com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