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23790" y="1828800"/>
            <a:ext cx="27432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200" b="1">
                <a:solidFill>
                  <a:srgbClr val="D4A853"/>
                </a:solidFill>
                <a:latin typeface="Playfair Display"/>
              </a:defRPr>
            </a:pPr>
            <a:r>
              <a:t>5 AI Tools PI Firms Can Use Today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defRPr sz="2000" b="0">
                <a:solidFill>
                  <a:srgbClr val="B8B8C8"/>
                </a:solidFill>
                <a:latin typeface="Inter"/>
              </a:defRPr>
            </a:pPr>
            <a:r>
              <a:t>Without Risking Privilege or Wasting Budget</a:t>
            </a:r>
          </a:p>
          <a:p>
            <a:pPr algn="ctr">
              <a:spcBef>
                <a:spcPts val="800"/>
              </a:spcBef>
              <a:spcAft>
                <a:spcPts val="600"/>
              </a:spcAft>
              <a:defRPr sz="1600" b="0">
                <a:solidFill>
                  <a:srgbClr val="B8B8C8"/>
                </a:solidFill>
                <a:latin typeface="Inter"/>
              </a:defRPr>
            </a:pPr>
            <a:r>
              <a:t>A Practical Guide  |  The Innovative Native  |  March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Before You Start: Ground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128016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18488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D4A853"/>
                </a:solidFill>
                <a:latin typeface="Playfair Display"/>
              </a:defRPr>
            </a:pPr>
            <a:r>
              <a:t>1. No Privileged Data in Consumer AI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F5F5F5"/>
                </a:solidFill>
                <a:latin typeface="Inter"/>
              </a:defRPr>
            </a:pPr>
            <a:r>
              <a:t>Every recommendation uses enterprise-grade legal AI or non-privileged data only. Per US v. Heppner, consumer AI tools waive privilege.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728655" cy="128016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81528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D4A853"/>
                </a:solidFill>
                <a:latin typeface="Playfair Display"/>
              </a:defRPr>
            </a:pPr>
            <a:r>
              <a:t>2. Clear, Measurable Return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F5F5F5"/>
                </a:solidFill>
                <a:latin typeface="Inter"/>
              </a:defRPr>
            </a:pPr>
            <a:r>
              <a:t>No “maybe this will help someday.” Each tool addresses a documented problem with quantifiable ROI.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34840"/>
            <a:ext cx="10728655" cy="128016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544568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D4A853"/>
                </a:solidFill>
                <a:latin typeface="Playfair Display"/>
              </a:defRPr>
            </a:pPr>
            <a:r>
              <a:t>3. Implement in Days, Not Months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F5F5F5"/>
                </a:solidFill>
                <a:latin typeface="Inter"/>
              </a:defRPr>
            </a:pPr>
            <a:r>
              <a:t>No CTO, no data science team, no six-figure budget required. Practical tools for real law firms.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00BCD4"/>
                </a:solidFill>
                <a:latin typeface="Inter"/>
              </a:defRPr>
            </a:pPr>
            <a:r>
              <a:t>Important: After Heppner, any AI use involving client data requires an AI governance policy. If your firm doesn’t have one, start there. (Free template available.)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365760"/>
            <a:ext cx="731520" cy="73152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3200" b="1">
                <a:solidFill>
                  <a:srgbClr val="0A0A14"/>
                </a:solidFill>
                <a:latin typeface="Playfair Display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736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Intake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45720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00BCD4"/>
                </a:solidFill>
                <a:latin typeface="Playfair Display"/>
              </a:defRPr>
            </a:pPr>
            <a:r>
              <a:t>What it does</a:t>
            </a:r>
          </a:p>
          <a:p>
            <a:pPr algn="l">
              <a:spcBef>
                <a:spcPts val="400"/>
              </a:spcBef>
              <a:spcAft>
                <a:spcPts val="1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Captures, qualifies, and responds to leads 24/7. When someone calls at 9 PM Saturday after a car accident, the system answers, qualifies, and books a consultation.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600" b="1">
                <a:solidFill>
                  <a:srgbClr val="00BCD4"/>
                </a:solidFill>
                <a:latin typeface="Playfair Display"/>
              </a:defRPr>
            </a:pPr>
            <a:r>
              <a:t>Why it matters</a:t>
            </a:r>
          </a:p>
          <a:p>
            <a:pPr algn="l">
              <a:spcBef>
                <a:spcPts val="400"/>
              </a:spcBef>
              <a:spcAft>
                <a:spcPts val="1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60% of calls unanswered. 80% who hit voicemail never call back. 67% hire the first attorney who answers. Your office is closed 128 hrs/week.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600" b="1">
                <a:solidFill>
                  <a:srgbClr val="00BCD4"/>
                </a:solidFill>
                <a:latin typeface="Playfair Display"/>
              </a:defRPr>
            </a:pPr>
            <a:r>
              <a:t>The Math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One additional retained case/month ($18,168 avg fee) pays for the tool 15x over.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4876495" cy="411480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554480"/>
            <a:ext cx="43278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D4A853"/>
                </a:solidFill>
                <a:latin typeface="Playfair Display"/>
              </a:defRPr>
            </a:pPr>
            <a:r>
              <a:t>Risk Level</a:t>
            </a:r>
          </a:p>
          <a:p>
            <a:pPr algn="l">
              <a:spcBef>
                <a:spcPts val="400"/>
              </a:spcBef>
              <a:spcAft>
                <a:spcPts val="1800"/>
              </a:spcAft>
              <a:defRPr sz="1500" b="0">
                <a:solidFill>
                  <a:srgbClr val="4CAF50"/>
                </a:solidFill>
                <a:latin typeface="Inter"/>
              </a:defRPr>
            </a:pPr>
            <a:r>
              <a:t>LOW — Handles pre-engagement info only. No privileged data involved.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D4A853"/>
                </a:solidFill>
                <a:latin typeface="Playfair Display"/>
              </a:defRPr>
            </a:pPr>
            <a:r>
              <a:t>Cost Range</a:t>
            </a:r>
          </a:p>
          <a:p>
            <a:pPr algn="l">
              <a:spcBef>
                <a:spcPts val="400"/>
              </a:spcBef>
              <a:spcAft>
                <a:spcPts val="18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Smith.ai $292/mo | LEX Reception $310/mo | Lawmatics $249/mo | Clio Grow $49/user/mo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D4A853"/>
                </a:solidFill>
                <a:latin typeface="Playfair Display"/>
              </a:defRPr>
            </a:pPr>
            <a:r>
              <a:t>Implementation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1-2 weeks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365760"/>
            <a:ext cx="731520" cy="73152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3200" b="1">
                <a:solidFill>
                  <a:srgbClr val="0A0A14"/>
                </a:solidFill>
                <a:latin typeface="Playfair Display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736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Medical Record Summarization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45720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00BCD4"/>
                </a:solidFill>
                <a:latin typeface="Playfair Display"/>
              </a:defRPr>
            </a:pPr>
            <a:r>
              <a:t>What it does</a:t>
            </a:r>
          </a:p>
          <a:p>
            <a:pPr algn="l">
              <a:spcBef>
                <a:spcPts val="400"/>
              </a:spcBef>
              <a:spcAft>
                <a:spcPts val="1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Extracts key findings, creates timelines, identifies diagnoses from 500-page records in 10-15 minutes. 90% time savings, finds 3x more evidence.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600" b="1">
                <a:solidFill>
                  <a:srgbClr val="00BCD4"/>
                </a:solidFill>
                <a:latin typeface="Playfair Display"/>
              </a:defRPr>
            </a:pPr>
            <a:r>
              <a:t>Why it matters</a:t>
            </a:r>
          </a:p>
          <a:p>
            <a:pPr algn="l">
              <a:spcBef>
                <a:spcPts val="400"/>
              </a:spcBef>
              <a:spcAft>
                <a:spcPts val="1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Medical record review is the biggest time sink in PI. 80%+ of litigation cost goes to document review.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600" b="1">
                <a:solidFill>
                  <a:srgbClr val="00BCD4"/>
                </a:solidFill>
                <a:latin typeface="Playfair Display"/>
              </a:defRPr>
            </a:pPr>
            <a:r>
              <a:t>The Math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100 cases x 10 hrs/case x $30/hr = $30K/yr manual. AI: $3-5K labor + $3.6-12K tool. Save $15-23K/yr.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4876495" cy="411480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554480"/>
            <a:ext cx="43278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D4A853"/>
                </a:solidFill>
                <a:latin typeface="Playfair Display"/>
              </a:defRPr>
            </a:pPr>
            <a:r>
              <a:t>Risk Level</a:t>
            </a:r>
          </a:p>
          <a:p>
            <a:pPr algn="l">
              <a:spcBef>
                <a:spcPts val="400"/>
              </a:spcBef>
              <a:spcAft>
                <a:spcPts val="1800"/>
              </a:spcAft>
              <a:defRPr sz="1500" b="0">
                <a:solidFill>
                  <a:srgbClr val="FFB74D"/>
                </a:solidFill>
                <a:latin typeface="Inter"/>
              </a:defRPr>
            </a:pPr>
            <a:r>
              <a:t>MEDIUM — PHI/HIPAA. Must have signed BAA. SOC 2 minimum. Verify before uploading a single page.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D4A853"/>
                </a:solidFill>
                <a:latin typeface="Playfair Display"/>
              </a:defRPr>
            </a:pPr>
            <a:r>
              <a:t>Cost Range</a:t>
            </a:r>
          </a:p>
          <a:p>
            <a:pPr algn="l">
              <a:spcBef>
                <a:spcPts val="400"/>
              </a:spcBef>
              <a:spcAft>
                <a:spcPts val="18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Supio (custom) | Tavrn $299/mo | CaseFleet $99/user/mo | EvenUp (premium)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D4A853"/>
                </a:solidFill>
                <a:latin typeface="Playfair Display"/>
              </a:defRPr>
            </a:pPr>
            <a:r>
              <a:t>Implementation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1-3 weeks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365760"/>
            <a:ext cx="731520" cy="73152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3200" b="1">
                <a:solidFill>
                  <a:srgbClr val="0A0A14"/>
                </a:solidFill>
                <a:latin typeface="Playfair Display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736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Demand Letter First-Draft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45720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00BCD4"/>
                </a:solidFill>
                <a:latin typeface="Playfair Display"/>
              </a:defRPr>
            </a:pPr>
            <a:r>
              <a:t>What it does</a:t>
            </a:r>
          </a:p>
          <a:p>
            <a:pPr algn="l">
              <a:spcBef>
                <a:spcPts val="400"/>
              </a:spcBef>
              <a:spcAft>
                <a:spcPts val="1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Generates complete demand letter drafts with case narrative, medical summary, liability analysis, damage calculation, and comparable settlement data.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600" b="1">
                <a:solidFill>
                  <a:srgbClr val="00BCD4"/>
                </a:solidFill>
                <a:latin typeface="Playfair Display"/>
              </a:defRPr>
            </a:pPr>
            <a:r>
              <a:t>Why it matters</a:t>
            </a:r>
          </a:p>
          <a:p>
            <a:pPr algn="l">
              <a:spcBef>
                <a:spcPts val="400"/>
              </a:spcBef>
              <a:spcAft>
                <a:spcPts val="1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5-15 hours per letter manually. Harvard Law 2025: 100x productivity gain in certain drafting tasks. 80% time reduction conservatively.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600" b="1">
                <a:solidFill>
                  <a:srgbClr val="00BCD4"/>
                </a:solidFill>
                <a:latin typeface="Playfair Display"/>
              </a:defRPr>
            </a:pPr>
            <a:r>
              <a:t>The Math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150 letters/yr x 10 hrs x $75/hr = $112.5K labor. 80% reduction saves $90K. Tool: $15-40K. Net: $50-75K/yr.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4876495" cy="411480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554480"/>
            <a:ext cx="43278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D4A853"/>
                </a:solidFill>
                <a:latin typeface="Playfair Display"/>
              </a:defRPr>
            </a:pPr>
            <a:r>
              <a:t>Risk Level</a:t>
            </a:r>
          </a:p>
          <a:p>
            <a:pPr algn="l">
              <a:spcBef>
                <a:spcPts val="400"/>
              </a:spcBef>
              <a:spcAft>
                <a:spcPts val="1800"/>
              </a:spcAft>
              <a:defRPr sz="1500" b="0">
                <a:solidFill>
                  <a:srgbClr val="FFB74D"/>
                </a:solidFill>
                <a:latin typeface="Inter"/>
              </a:defRPr>
            </a:pPr>
            <a:r>
              <a:t>MEDIUM — Contains case strategy. Enterprise tools only. Never paste into ChatGPT. Heppner applies.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D4A853"/>
                </a:solidFill>
                <a:latin typeface="Playfair Display"/>
              </a:defRPr>
            </a:pPr>
            <a:r>
              <a:t>Cost Range</a:t>
            </a:r>
          </a:p>
          <a:p>
            <a:pPr algn="l">
              <a:spcBef>
                <a:spcPts val="400"/>
              </a:spcBef>
              <a:spcAft>
                <a:spcPts val="18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EvenUp (~$200/run) | Supio (custom) | Filevine DemandsAI (bundled)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D4A853"/>
                </a:solidFill>
                <a:latin typeface="Playfair Display"/>
              </a:defRPr>
            </a:pPr>
            <a:r>
              <a:t>Implementation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2-4 weeks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365760"/>
            <a:ext cx="731520" cy="73152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3200" b="1">
                <a:solidFill>
                  <a:srgbClr val="0A0A14"/>
                </a:solidFill>
                <a:latin typeface="Playfair Display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736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Case Valuation Pattern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45720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00BCD4"/>
                </a:solidFill>
                <a:latin typeface="Playfair Display"/>
              </a:defRPr>
            </a:pPr>
            <a:r>
              <a:t>What it does</a:t>
            </a:r>
          </a:p>
          <a:p>
            <a:pPr algn="l">
              <a:spcBef>
                <a:spcPts val="400"/>
              </a:spcBef>
              <a:spcAft>
                <a:spcPts val="1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Analyzes thousands of comparable settlements to produce data-backed valuations. Input injury type, treatment, jurisdiction → get valuation range with supporting cases.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600" b="1">
                <a:solidFill>
                  <a:srgbClr val="00BCD4"/>
                </a:solidFill>
                <a:latin typeface="Playfair Display"/>
              </a:defRPr>
            </a:pPr>
            <a:r>
              <a:t>Why it matters</a:t>
            </a:r>
          </a:p>
          <a:p>
            <a:pPr algn="l">
              <a:spcBef>
                <a:spcPts val="400"/>
              </a:spcBef>
              <a:spcAft>
                <a:spcPts val="1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Insurers have used Colossus for 30 years (15-30% savings on claims). Most firms counter with gut feeling. This is data vs. data.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600" b="1">
                <a:solidFill>
                  <a:srgbClr val="00BCD4"/>
                </a:solidFill>
                <a:latin typeface="Playfair Display"/>
              </a:defRPr>
            </a:pPr>
            <a:r>
              <a:t>The Math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10% higher avg settlement on 100 cases @ $55K = $550K more. At 33%: $181K additional fees. Tool: $10-50K/yr.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4876495" cy="411480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554480"/>
            <a:ext cx="43278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D4A853"/>
                </a:solidFill>
                <a:latin typeface="Playfair Display"/>
              </a:defRPr>
            </a:pPr>
            <a:r>
              <a:t>Risk Level</a:t>
            </a:r>
          </a:p>
          <a:p>
            <a:pPr algn="l">
              <a:spcBef>
                <a:spcPts val="400"/>
              </a:spcBef>
              <a:spcAft>
                <a:spcPts val="1800"/>
              </a:spcAft>
              <a:defRPr sz="1500" b="0">
                <a:solidFill>
                  <a:srgbClr val="4CAF50"/>
                </a:solidFill>
                <a:latin typeface="Inter"/>
              </a:defRPr>
            </a:pPr>
            <a:r>
              <a:t>LOW-MEDIUM — Uses case characteristics, not privileged communications. Keep inputs to factual data.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D4A853"/>
                </a:solidFill>
                <a:latin typeface="Playfair Display"/>
              </a:defRPr>
            </a:pPr>
            <a:r>
              <a:t>Cost Range</a:t>
            </a:r>
          </a:p>
          <a:p>
            <a:pPr algn="l">
              <a:spcBef>
                <a:spcPts val="400"/>
              </a:spcBef>
              <a:spcAft>
                <a:spcPts val="18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EvenUp (bundled) | AnytimeAI (custom) | Premonition (custom) | CaseFleet $99/user/mo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D4A853"/>
                </a:solidFill>
                <a:latin typeface="Playfair Display"/>
              </a:defRPr>
            </a:pPr>
            <a:r>
              <a:t>Implementation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1-2 weeks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365760"/>
            <a:ext cx="731520" cy="73152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3200" b="1">
                <a:solidFill>
                  <a:srgbClr val="0A0A14"/>
                </a:solidFill>
                <a:latin typeface="Playfair Display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736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Client Communication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45720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00BCD4"/>
                </a:solidFill>
                <a:latin typeface="Playfair Display"/>
              </a:defRPr>
            </a:pPr>
            <a:r>
              <a:t>What it does</a:t>
            </a:r>
          </a:p>
          <a:p>
            <a:pPr algn="l">
              <a:spcBef>
                <a:spcPts val="400"/>
              </a:spcBef>
              <a:spcAft>
                <a:spcPts val="1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Automated, personalized status updates, document requests, appointment reminders via email/text/portal. Clients stay informed without paralegal calls.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600" b="1">
                <a:solidFill>
                  <a:srgbClr val="00BCD4"/>
                </a:solidFill>
                <a:latin typeface="Playfair Display"/>
              </a:defRPr>
            </a:pPr>
            <a:r>
              <a:t>Why it matters</a:t>
            </a:r>
          </a:p>
          <a:p>
            <a:pPr algn="l">
              <a:spcBef>
                <a:spcPts val="400"/>
              </a:spcBef>
              <a:spcAft>
                <a:spcPts val="1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Client communication is #1 source of bar complaints. Mass tort firms lose 15%+ of signed plaintiffs to competitors due to communication gaps.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600" b="1">
                <a:solidFill>
                  <a:srgbClr val="00BCD4"/>
                </a:solidFill>
                <a:latin typeface="Playfair Display"/>
              </a:defRPr>
            </a:pPr>
            <a:r>
              <a:t>The Math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500 mass tort retainers @ $3K avg. 15% attrition = $225K wasted. Reduce to 5% = save $150K. Tool: $5-15K/yr.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4876495" cy="411480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554480"/>
            <a:ext cx="43278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D4A853"/>
                </a:solidFill>
                <a:latin typeface="Playfair Display"/>
              </a:defRPr>
            </a:pPr>
            <a:r>
              <a:t>Risk Level</a:t>
            </a:r>
          </a:p>
          <a:p>
            <a:pPr algn="l">
              <a:spcBef>
                <a:spcPts val="400"/>
              </a:spcBef>
              <a:spcAft>
                <a:spcPts val="1800"/>
              </a:spcAft>
              <a:defRPr sz="1500" b="0">
                <a:solidFill>
                  <a:srgbClr val="4CAF50"/>
                </a:solidFill>
                <a:latin typeface="Inter"/>
              </a:defRPr>
            </a:pPr>
            <a:r>
              <a:t>LOW — Templated messages with case variables. No privileged strategy or settlement discussions.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D4A853"/>
                </a:solidFill>
                <a:latin typeface="Playfair Display"/>
              </a:defRPr>
            </a:pPr>
            <a:r>
              <a:t>Cost Range</a:t>
            </a:r>
          </a:p>
          <a:p>
            <a:pPr algn="l">
              <a:spcBef>
                <a:spcPts val="400"/>
              </a:spcBef>
              <a:spcAft>
                <a:spcPts val="18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Case Status $79/user/mo | Lawmatics $249/mo | Clio $49-89/user/mo | Filevine (custom)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D4A853"/>
                </a:solidFill>
                <a:latin typeface="Playfair Display"/>
              </a:defRPr>
            </a:pPr>
            <a:r>
              <a:t>Implementation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2-4 weeks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00BCD4"/>
                </a:solidFill>
                <a:latin typeface="Playfair Display"/>
              </a:defRPr>
            </a:pPr>
            <a:r>
              <a:t>Start With One Tool. Prove the ROI. Expand.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743200"/>
            <a:ext cx="7619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✓  Week 1-2: Intake Automation (highest ROI, lowest risk)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✓  Week 3-4: Client Communication (prevents revenue loss)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✓  Month 2: Medical Record Summarization (biggest time savings)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✓  Month 3: Demand Letter Drafting (requires attorney buy-in)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✓  Month 4+: Case Valuation Analysis (most strategic value)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Get an AI governance policy first. Free template: mike@theinnovativenative.com</a:t>
            </a:r>
          </a:p>
          <a:p>
            <a:pPr algn="l">
              <a:spcBef>
                <a:spcPts val="1600"/>
              </a:spcBef>
              <a:spcAft>
                <a:spcPts val="600"/>
              </a:spcAft>
              <a:defRPr sz="1600" b="0">
                <a:solidFill>
                  <a:srgbClr val="B8B8C8"/>
                </a:solidFill>
                <a:latin typeface="Inter"/>
              </a:defRPr>
            </a:pPr>
            <a:r>
              <a:t>Sources: Clio, CasePeer, LEXGRO, Harvard Law 2025, ABA Opinion 512, US v. Heppner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