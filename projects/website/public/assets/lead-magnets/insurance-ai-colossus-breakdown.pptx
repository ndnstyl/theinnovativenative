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3790" y="1828800"/>
            <a:ext cx="27432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D4A853"/>
                </a:solidFill>
                <a:latin typeface="Playfair Display"/>
              </a:defRPr>
            </a:pPr>
            <a:r>
              <a:t>How Insurance AI Works Against You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000" b="0">
                <a:solidFill>
                  <a:srgbClr val="B8B8C8"/>
                </a:solidFill>
                <a:latin typeface="Inter"/>
              </a:defRPr>
            </a:pPr>
            <a:r>
              <a:t>The Colossus Breakdown: Algorithms Devaluing Your Clients’ Claims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The Innovative Native  |  March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What is Colossus?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5F5F5"/>
                </a:solidFill>
                <a:latin typeface="Inter"/>
              </a:defRPr>
            </a:pPr>
            <a:r>
              <a:t>Claims evaluation software developed in the early 1990s by CSC. Allstate was the first major adopter.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1800" b="0">
                <a:solidFill>
                  <a:srgbClr val="F5F5F5"/>
                </a:solidFill>
                <a:latin typeface="Inter"/>
              </a:defRPr>
            </a:pPr>
            <a:r>
              <a:t>Today used by: Allstate, Farmers, MetLife, USAA, and dozens of other carriers.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00BCD4"/>
                </a:solidFill>
                <a:latin typeface="Inter"/>
              </a:defRPr>
            </a:pPr>
            <a:r>
              <a:t>The system takes injury data and outputs a settlement range — almost always lower than the claim’s actual worth.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25880"/>
            <a:ext cx="4327855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4630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How It Works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1. Medical data input (ICD-10, treatment types)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2. Severity scoring (historical database)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3. Modifier application (jurisdiction, demographics)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4. Settlement range output (capped authority)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CF4939"/>
                </a:solidFill>
                <a:latin typeface="Inter"/>
              </a:defRPr>
            </a:pPr>
            <a:r>
              <a:t>Result: 15-30% savings for insurers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5 Tactics Insurance AI Uses Against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12801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99032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F4939"/>
                </a:solidFill>
                <a:latin typeface="Playfair Display"/>
              </a:defRPr>
            </a:pPr>
            <a:r>
              <a:t>Tactic 1: Anchoring to “Typical” Treatment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Penalizes clients who receive thorough care. More treatment = lower score.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4CAF50"/>
                </a:solidFill>
                <a:latin typeface="Inter"/>
              </a:defRPr>
            </a:pPr>
            <a:r>
              <a:t>Counter: Document medical necessity of every deviation. Get physician written justification.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655" cy="12801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62072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F4939"/>
                </a:solidFill>
                <a:latin typeface="Playfair Display"/>
              </a:defRPr>
            </a:pPr>
            <a:r>
              <a:t>Tactic 2: Jurisdiction-Based Discounting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Defense-friendly counties get auto-lowered valuations before records are reviewed.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4CAF50"/>
                </a:solidFill>
                <a:latin typeface="Inter"/>
              </a:defRPr>
            </a:pPr>
            <a:r>
              <a:t>Counter: Document comparable verdicts from your jurisdiction. Expose outdated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728655" cy="12801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25112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CF4939"/>
                </a:solidFill>
                <a:latin typeface="Playfair Display"/>
              </a:defRPr>
            </a:pPr>
            <a:r>
              <a:t>Tactic 3: Exploiting Treatment Gaps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Any gap in treatment = “injury resolved.” Ignores financial barriers, work obligations.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4CAF50"/>
                </a:solidFill>
                <a:latin typeface="Inter"/>
              </a:defRPr>
            </a:pPr>
            <a:r>
              <a:t>Counter: Preemptively address gaps in demand letters. Have physician document reasons.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5 Tactics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14630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800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CF4939"/>
                </a:solidFill>
                <a:latin typeface="Playfair Display"/>
              </a:defRPr>
            </a:pPr>
            <a:r>
              <a:t>Tactic 4: Lowball First Offers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First offer = bottom of calculated range. Every dollar above midpoint needs supervisor approval.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4CAF50"/>
                </a:solidFill>
                <a:latin typeface="Inter"/>
              </a:defRPr>
            </a:pPr>
            <a:r>
              <a:t>Counter: Respond with data-backed counter citing comparable settlements. Make them justify their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728655" cy="14630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1800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CF4939"/>
                </a:solidFill>
                <a:latin typeface="Playfair Display"/>
              </a:defRPr>
            </a:pPr>
            <a:r>
              <a:t>Tactic 5: Biased Historical Data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Trained on decades of settlements that systematically undervalued certain demographics and areas.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4CAF50"/>
                </a:solidFill>
                <a:latin typeface="Inter"/>
              </a:defRPr>
            </a:pPr>
            <a:r>
              <a:t>Counter: Document when offers seem unjustifiably low. In bad faith litigation, reliance on biased AI is a liability.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0BCD4"/>
                </a:solidFill>
                <a:latin typeface="Inter"/>
              </a:defRPr>
            </a:pPr>
            <a:r>
              <a:t>The Asymmetry: Insurers have billion-dollar AI. Most PI firms have a paralegal and a Word template. The firms that close this gap will win.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Fighting Back: AI for Plaintiff Firms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9903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D4A853"/>
                </a:solidFill>
                <a:latin typeface="Playfair Display"/>
              </a:defRPr>
            </a:pPr>
            <a:r>
              <a:t>AI-Powered Case Valuation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EvenUp, AnytimeAI — data-backed counter to Colossus. 2,400 comparable cases vs. one algorithm.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8655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9631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D4A853"/>
                </a:solidFill>
                <a:latin typeface="Playfair Display"/>
              </a:defRPr>
            </a:pPr>
            <a:r>
              <a:t>Medical Record Analysis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Supio, Tavrn — extract key findings from 500-page records in minutes. Catch what adjusters miss.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10728655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9359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D4A853"/>
                </a:solidFill>
                <a:latin typeface="Playfair Display"/>
              </a:defRPr>
            </a:pPr>
            <a:r>
              <a:t>Demand Letter Optimization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Engineer demands to address the data points Colossus weighs: ICD codes, treatment intensity, jurisdiction modifiers.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728655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90872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D4A853"/>
                </a:solidFill>
                <a:latin typeface="Playfair Display"/>
              </a:defRPr>
            </a:pPr>
            <a:r>
              <a:t>Pattern Analysis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Analyze your caseload: which insurers lowball? Which adjusters respond to litigation? Which injuries are undervalued?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00BCD4"/>
                </a:solidFill>
                <a:latin typeface="Playfair Display"/>
              </a:defRPr>
            </a:pPr>
            <a:r>
              <a:t>Meet Data With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Pull your last 20 settlements — is the gap between offer and settlement shrinking?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Audit your demand letters — do they address ICD codes and jurisdiction modifiers?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Evaluate one AI valuation tool — see what the data says about a case you already settled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mike@theinnovativenative.com  |  The Innovative Native</a:t>
            </a:r>
          </a:p>
          <a:p>
            <a:pPr algn="l">
              <a:spcBef>
                <a:spcPts val="16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Sources: Danny Glover Law, ProPlaintiff 2026, Harvard Law AI Study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