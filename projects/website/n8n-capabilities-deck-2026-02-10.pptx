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F5F5"/>
                </a:solidFill>
                <a:latin typeface="Playfair Display"/>
              </a:defRPr>
            </a:pPr>
            <a:r>
              <a:t>What n8n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8B8C8"/>
                </a:solidFill>
                <a:latin typeface="Inter"/>
              </a:defRPr>
            </a:pPr>
            <a:r>
              <a:t>9 capabilities that turn chaos into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n8n Ecosystem</a:t>
            </a:r>
          </a:p>
        </p:txBody>
      </p:sp>
      <p:sp>
        <p:nvSpPr>
          <p:cNvPr id="3" name="Oval 2"/>
          <p:cNvSpPr/>
          <p:nvPr/>
        </p:nvSpPr>
        <p:spPr>
          <a:xfrm>
            <a:off x="3169310" y="731519"/>
            <a:ext cx="5852160" cy="5852160"/>
          </a:xfrm>
          <a:prstGeom prst="ellipse">
            <a:avLst/>
          </a:prstGeom>
          <a:noFill/>
          <a:ln w="254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15230" y="2377440"/>
            <a:ext cx="2560320" cy="25603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15230" y="32004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0A14"/>
                </a:solidFill>
                <a:latin typeface="Playfair Display"/>
              </a:defRPr>
            </a:pPr>
            <a:r>
              <a:t>n8n</a:t>
            </a:r>
          </a:p>
        </p:txBody>
      </p:sp>
      <p:sp>
        <p:nvSpPr>
          <p:cNvPr id="6" name="Oval 5"/>
          <p:cNvSpPr/>
          <p:nvPr/>
        </p:nvSpPr>
        <p:spPr>
          <a:xfrm>
            <a:off x="5985662" y="804672"/>
            <a:ext cx="219456" cy="219456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99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5F5"/>
                </a:solidFill>
                <a:latin typeface="Inter"/>
              </a:defRPr>
            </a:pPr>
            <a:r>
              <a:t>Document Extraction</a:t>
            </a:r>
          </a:p>
        </p:txBody>
      </p:sp>
      <p:sp>
        <p:nvSpPr>
          <p:cNvPr id="8" name="Oval 7"/>
          <p:cNvSpPr/>
          <p:nvPr/>
        </p:nvSpPr>
        <p:spPr>
          <a:xfrm>
            <a:off x="8361343" y="2176272"/>
            <a:ext cx="219456" cy="219456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45391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Inter"/>
              </a:defRPr>
            </a:pPr>
            <a:r>
              <a:t>Data Cleaning</a:t>
            </a:r>
          </a:p>
        </p:txBody>
      </p:sp>
      <p:sp>
        <p:nvSpPr>
          <p:cNvPr id="10" name="Oval 9"/>
          <p:cNvSpPr/>
          <p:nvPr/>
        </p:nvSpPr>
        <p:spPr>
          <a:xfrm>
            <a:off x="8361343" y="4919472"/>
            <a:ext cx="219456" cy="219456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5391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Inter"/>
              </a:defRPr>
            </a:pPr>
            <a:r>
              <a:t>AI Reasoning</a:t>
            </a:r>
          </a:p>
        </p:txBody>
      </p:sp>
      <p:sp>
        <p:nvSpPr>
          <p:cNvPr id="12" name="Oval 11"/>
          <p:cNvSpPr/>
          <p:nvPr/>
        </p:nvSpPr>
        <p:spPr>
          <a:xfrm>
            <a:off x="5985662" y="6291072"/>
            <a:ext cx="219456" cy="219456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99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5F5"/>
                </a:solidFill>
                <a:latin typeface="Inter"/>
              </a:defRPr>
            </a:pPr>
            <a:r>
              <a:t>Knowledge Agents</a:t>
            </a:r>
          </a:p>
        </p:txBody>
      </p:sp>
      <p:sp>
        <p:nvSpPr>
          <p:cNvPr id="14" name="Oval 13"/>
          <p:cNvSpPr/>
          <p:nvPr/>
        </p:nvSpPr>
        <p:spPr>
          <a:xfrm>
            <a:off x="3609981" y="4919472"/>
            <a:ext cx="219456" cy="219456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8029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5F5F5"/>
                </a:solidFill>
                <a:latin typeface="Inter"/>
              </a:defRPr>
            </a:pPr>
            <a:r>
              <a:t>Customer Support</a:t>
            </a:r>
          </a:p>
        </p:txBody>
      </p:sp>
      <p:sp>
        <p:nvSpPr>
          <p:cNvPr id="16" name="Oval 15"/>
          <p:cNvSpPr/>
          <p:nvPr/>
        </p:nvSpPr>
        <p:spPr>
          <a:xfrm>
            <a:off x="3609981" y="2176271"/>
            <a:ext cx="219456" cy="219456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8029" y="210311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5F5F5"/>
                </a:solidFill>
                <a:latin typeface="Inter"/>
              </a:defRPr>
            </a:pPr>
            <a:r>
              <a:t>Data Enrichment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F5"/>
                </a:solidFill>
                <a:latin typeface="Playfair Display"/>
              </a:defRPr>
            </a:pPr>
            <a:r>
              <a:t>Beyond Basic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FF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8B8C8"/>
                </a:solidFill>
                <a:latin typeface="Inter"/>
              </a:defRPr>
            </a:pPr>
            <a:r>
              <a:t>Insight generation from raw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Doc 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8B8C8"/>
                </a:solidFill>
                <a:latin typeface="Inter"/>
              </a:defRPr>
            </a:pPr>
            <a:r>
              <a:t>Templates to polished deliverables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D4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F5F5"/>
                </a:solidFill>
                <a:latin typeface="Playfair Display"/>
              </a:defRPr>
            </a:pPr>
            <a:r>
              <a:t>Sales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8B8C8"/>
                </a:solidFill>
                <a:latin typeface="Inter"/>
              </a:defRPr>
            </a:pPr>
            <a:r>
              <a:t>AI reps that qualify and follow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The Operator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FFFF"/>
                </a:solidFill>
                <a:latin typeface="Playfair Display"/>
              </a:defRPr>
            </a:pPr>
            <a:r>
              <a:t>80%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" y="4023360"/>
            <a:ext cx="155448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8B8C8"/>
                </a:solidFill>
                <a:latin typeface="Inter"/>
              </a:defRPr>
            </a:pPr>
            <a:r>
              <a:t>Manual tasks eliminated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67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00FF"/>
                </a:solidFill>
                <a:latin typeface="Playfair Display"/>
              </a:defRPr>
            </a:pPr>
            <a:r>
              <a:t>3x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3904" y="4023360"/>
            <a:ext cx="1554480" cy="5486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8B8C8"/>
                </a:solidFill>
                <a:latin typeface="Inter"/>
              </a:defRPr>
            </a:pPr>
            <a:r>
              <a:t>Faster turnaround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99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D4"/>
                </a:solidFill>
                <a:latin typeface="Playfair Display"/>
              </a:defRPr>
            </a:pPr>
            <a:r>
              <a:t>24/7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47104" y="4023360"/>
            <a:ext cx="1554480" cy="54864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8B8C8"/>
                </a:solidFill>
                <a:latin typeface="Inter"/>
              </a:defRPr>
            </a:pPr>
            <a:r>
              <a:t>Always-on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FFFF"/>
                </a:solidFill>
                <a:latin typeface="Playfair Display"/>
              </a:defRPr>
            </a:pPr>
            <a:r>
              <a:t>$0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0304" y="4023360"/>
            <a:ext cx="155448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31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8B8C8"/>
                </a:solidFill>
                <a:latin typeface="Inter"/>
              </a:defRPr>
            </a:pPr>
            <a:r>
              <a:t>Per-run staff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256032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52744" y="256032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95944" y="2560320"/>
            <a:ext cx="18288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00FF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F5F5"/>
                </a:solidFill>
                <a:latin typeface="Playfair Display"/>
              </a:defRPr>
            </a:pPr>
            <a:r>
              <a:t>Pro Tips for Creators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8B8C8"/>
                </a:solidFill>
                <a:latin typeface="Inter"/>
              </a:defRPr>
            </a:pPr>
            <a:r>
              <a:t>Lessons from the trenches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Foundations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1358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1358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  <a:latin typeface="Playfair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One workflow, one win, then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645920"/>
            <a:ext cx="261358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5103" y="1645920"/>
            <a:ext cx="261358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00FF"/>
                </a:solidFill>
                <a:latin typeface="Playfair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Build in public, show your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45920"/>
            <a:ext cx="261358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645920"/>
            <a:ext cx="2613583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  <a:latin typeface="Playfair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HTTP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The Swiss Army knife of n8n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645920"/>
            <a:ext cx="2613583" cy="4389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0911" y="1645920"/>
            <a:ext cx="2613583" cy="9144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00FF"/>
                </a:solidFill>
                <a:latin typeface="Playfair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3791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Playfair Display"/>
              </a:defRPr>
            </a:pPr>
            <a:r>
              <a:t>Drop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Call yourself a builder, not an expert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5F5"/>
                </a:solidFill>
                <a:latin typeface="Playfair Display"/>
              </a:defRPr>
            </a:pPr>
            <a:r>
              <a:t>The Business of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  <a:latin typeface="Playfair Display"/>
              </a:defRPr>
            </a:pPr>
            <a:r>
              <a:t>What to Avoid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Saying yes to everything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9300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One-time project builds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59028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Hiding your mistakes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68756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Gatekeeping knowledge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  <a:latin typeface="Playfair Display"/>
              </a:defRPr>
            </a:pPr>
            <a:r>
              <a:t>What Actually Works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Strategic no's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49300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383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Recurring revenue models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59028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Sharing failures publicly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687568"/>
            <a:ext cx="91440" cy="9144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5F5"/>
                </a:solidFill>
                <a:latin typeface="Inter"/>
              </a:defRPr>
            </a:pPr>
            <a:r>
              <a:t>Referring other automators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2743200"/>
            <a:ext cx="7315200" cy="4572000"/>
          </a:xfrm>
          <a:prstGeom prst="parallelogram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4114800"/>
            <a:ext cx="6400800" cy="3657600"/>
          </a:xfrm>
          <a:prstGeom prst="parallelogram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400" b="1">
                <a:solidFill>
                  <a:srgbClr val="F5F5F5"/>
                </a:solidFill>
                <a:latin typeface="Playfair Display"/>
              </a:defRPr>
            </a:pPr>
            <a:r>
              <a:t>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84048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>
                <a:solidFill>
                  <a:srgbClr val="B8B8C8"/>
                </a:solidFill>
                <a:latin typeface="Inter"/>
              </a:defRPr>
            </a:pPr>
            <a:r>
              <a:t>If your workflow can't fail gracefully, it's not production-ready</a:t>
            </a:r>
          </a:p>
        </p:txBody>
      </p:sp>
      <p:sp>
        <p:nvSpPr>
          <p:cNvPr id="6" name="Right Triangle 5"/>
          <p:cNvSpPr/>
          <p:nvPr/>
        </p:nvSpPr>
        <p:spPr>
          <a:xfrm>
            <a:off x="11277295" y="0"/>
            <a:ext cx="914400" cy="914400"/>
          </a:xfrm>
          <a:prstGeom prst="rtTriangl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Playfair Display"/>
              </a:defRPr>
            </a:pPr>
            <a:r>
              <a:t>Build What You Actually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Inter"/>
              </a:defRPr>
            </a:pPr>
            <a:r>
              <a:t>Automate your own content pipeline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09728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Inter"/>
              </a:defRPr>
            </a:pPr>
            <a:r>
              <a:t>Your best case study is your own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Inter"/>
              </a:defRPr>
            </a:pPr>
            <a:r>
              <a:t>Clients trust operators who eat their own cooking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109728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5F5"/>
                </a:solidFill>
                <a:latin typeface="Inter"/>
              </a:defRPr>
            </a:pPr>
            <a:r>
              <a:t>Real experience beats theoretical knowledge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00FFFF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9728" cy="2286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i="1">
                <a:solidFill>
                  <a:srgbClr val="F5F5F5"/>
                </a:solidFill>
                <a:latin typeface="Inter"/>
              </a:defRPr>
            </a:pPr>
            <a:r>
              <a:t>Talk about outcomes, not nodes. Nobody cares how many integrations you used. They care that leads get followed up in under 2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0FFFF"/>
                </a:solidFill>
                <a:latin typeface="Playfair Display"/>
              </a:defRPr>
            </a:pPr>
            <a:r>
              <a:t>— The Innovative Native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790895" cy="5790895"/>
          </a:xfrm>
          <a:prstGeom prst="ellipse">
            <a:avLst/>
          </a:prstGeom>
          <a:solidFill>
            <a:srgbClr val="23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B8C8"/>
                </a:solidFill>
                <a:latin typeface="Inter"/>
              </a:defRPr>
            </a:pPr>
            <a:r>
              <a:t>MOST WORKFLOWS, BUILT AND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0" b="1">
                <a:solidFill>
                  <a:srgbClr val="00FFFF"/>
                </a:solidFill>
                <a:latin typeface="Playfair Display"/>
              </a:defRPr>
            </a:pPr>
            <a:r>
              <a:t>$50–$200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5F5"/>
                </a:solidFill>
                <a:latin typeface="Inter"/>
              </a:defRPr>
            </a:pPr>
            <a:r>
              <a:t>Most workflows, built and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852160"/>
            <a:ext cx="2133295" cy="36576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F5F5"/>
                </a:solidFill>
                <a:latin typeface="Playfair Display"/>
              </a:defRPr>
            </a:pPr>
            <a:r>
              <a:t>Let's Build Your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0552" cy="7315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46504" y="4846320"/>
            <a:ext cx="457200" cy="45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465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Playfair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5440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Inter"/>
              </a:defRPr>
            </a:pPr>
            <a:r>
              <a:t>DM me your messiest workflow</a:t>
            </a:r>
          </a:p>
        </p:txBody>
      </p:sp>
      <p:sp>
        <p:nvSpPr>
          <p:cNvPr id="9" name="Oval 8"/>
          <p:cNvSpPr/>
          <p:nvPr/>
        </p:nvSpPr>
        <p:spPr>
          <a:xfrm>
            <a:off x="4489704" y="4846320"/>
            <a:ext cx="457200" cy="45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Playfair Display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5440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Inter"/>
              </a:defRPr>
            </a:pPr>
            <a:r>
              <a:t>Start with one automation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232904" y="4846320"/>
            <a:ext cx="457200" cy="45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Playfair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5440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Inter"/>
              </a:defRPr>
            </a:pPr>
            <a:r>
              <a:t>Ship it this week</a:t>
            </a:r>
          </a:p>
        </p:txBody>
      </p:sp>
      <p:sp>
        <p:nvSpPr>
          <p:cNvPr id="15" name="Oval 14"/>
          <p:cNvSpPr/>
          <p:nvPr/>
        </p:nvSpPr>
        <p:spPr>
          <a:xfrm>
            <a:off x="9976104" y="4846320"/>
            <a:ext cx="457200" cy="45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Playfair Display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5440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Inter"/>
              </a:defRPr>
            </a:pPr>
            <a:r>
              <a:t>Stack from there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